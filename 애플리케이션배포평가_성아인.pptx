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7" r:id="rId3"/>
    <p:sldId id="278" r:id="rId4"/>
    <p:sldId id="279" r:id="rId5"/>
    <p:sldId id="280" r:id="rId6"/>
    <p:sldId id="281" r:id="rId7"/>
    <p:sldId id="290" r:id="rId8"/>
    <p:sldId id="291" r:id="rId9"/>
    <p:sldId id="289" r:id="rId10"/>
    <p:sldId id="292" r:id="rId11"/>
    <p:sldId id="282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1E9"/>
    <a:srgbClr val="224D60"/>
    <a:srgbClr val="CBE2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>
        <p:scale>
          <a:sx n="91" d="100"/>
          <a:sy n="91" d="100"/>
        </p:scale>
        <p:origin x="378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553034-9695-45F1-B0F6-A5E64A30F9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038E6E-45E6-4C02-B103-0851ED581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F720C9-B1D9-493D-8685-BEF523C1D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BE10-EFE4-4A34-B333-B71CDD3CE2EE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1F82D9-04BB-4F2F-BCF4-6B646DCD3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DC03BA-045A-46EF-9B88-E8E2493FF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C49F-5B68-48AF-9BF3-6C7FDE4E48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1503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110B9-9DDE-4121-95E3-0F9B8D549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B39653-E3D7-4207-A728-6CB81904F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C32646-4D0D-4E27-9C3E-1F34A7B9E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BE10-EFE4-4A34-B333-B71CDD3CE2EE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F1048B-302E-49EC-AB91-027D79ED4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5E951A-AD20-4595-8EDF-27D59BE64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C49F-5B68-48AF-9BF3-6C7FDE4E48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886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DBC5B-7465-489C-9EAB-01F7CEA1D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42F03F-A5C3-4114-A007-365565709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1A8B34-EE76-4018-9599-1270AACB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BE10-EFE4-4A34-B333-B71CDD3CE2EE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DCD1A0-1876-47C4-928A-1107EA051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1D7BAA-FF66-4F02-A128-4BC2EBFF6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C49F-5B68-48AF-9BF3-6C7FDE4E48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121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479DB3-89CB-42AD-8E81-66E8541A0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52AB76-7F75-4CB4-B223-4649B643FA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E9C788-7F86-4FFE-BD19-4DEAEF366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F3AB0F-BDD9-47D6-910C-59620BB9A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BE10-EFE4-4A34-B333-B71CDD3CE2EE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31343-E4B7-49B4-BEB4-BCD327231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A2EC68-F6F0-4198-BEE7-A6DB830CB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C49F-5B68-48AF-9BF3-6C7FDE4E48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182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BC905-F427-4AAE-A4CE-DF3830A18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60E4A3-F13C-461C-8884-DD286AD20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D846F4-6A3D-4DC4-AC57-376A182DE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9A26B3C-4ED8-4C9D-849A-D2FF2DF061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1CC76B6-6979-4766-8B56-BE416657C0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BE3EF4-AA57-47AC-9591-1F573664A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BE10-EFE4-4A34-B333-B71CDD3CE2EE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044C0FC-1C99-4488-92E9-46CDB9322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DFD9256-33B4-487F-8C05-BF4A4CA43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C49F-5B68-48AF-9BF3-6C7FDE4E48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208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21A086-DEFB-4D0E-8A10-B9304ADFF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B08F57B-363D-4070-9650-028A80641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BE10-EFE4-4A34-B333-B71CDD3CE2EE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96D4A2-0DC6-409E-AB09-81EF35C82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2BE21C-D675-42F2-B2B4-4CC4FBBCF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C49F-5B68-48AF-9BF3-6C7FDE4E48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191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7344784-FDDB-4ABF-B90B-A6242939C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BE10-EFE4-4A34-B333-B71CDD3CE2EE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CB5E9D-FC38-4BD8-A818-144C8DAE7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2F7E89-AB9B-4143-AE70-C5B82B688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C49F-5B68-48AF-9BF3-6C7FDE4E48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439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0F1736-1F65-4491-8BA0-BE867F122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CEC639-CCD4-492E-90A6-8BD6FE3A9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47C8DB-8E22-4B22-AF70-BADF809A49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3CBB43-9E69-45EB-9A38-E13E92921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BE10-EFE4-4A34-B333-B71CDD3CE2EE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5267C4-C0CE-4C33-BEBE-3217A9EF9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FF3E58-03D0-4148-A95C-DADFCDDA4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C49F-5B68-48AF-9BF3-6C7FDE4E48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579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2223-7599-4D2B-AAD4-7B34689F5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FBFD7F7-30D9-4D4B-9188-09CFC0BAF6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66BF41-F3F2-4969-BB6D-A4BF6F624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12CE72-DCCA-4ECF-975A-34DA0CEE7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BE10-EFE4-4A34-B333-B71CDD3CE2EE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6CD136-2CA8-4F83-B18A-0AC2A118E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4A0F54-11CC-4729-B31B-EBFBAD3AF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C49F-5B68-48AF-9BF3-6C7FDE4E48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93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35B3AC-3193-4F7A-BB83-F81AB4109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569AFB-384F-466A-ADE4-9244FC0EC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9247EA-27CA-4DC9-93FE-81F5A0A95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BE10-EFE4-4A34-B333-B71CDD3CE2EE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557966-2EE9-40F8-AC9C-8CAC3FF38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3C194F-1C07-4027-A0DD-2A0C3464F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C49F-5B68-48AF-9BF3-6C7FDE4E48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165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4AD6598-B1F0-4FBF-8D96-09CC53D0C2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6BCD3B-59AB-4C0E-ADFB-68B78C8227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4709DC-0727-4CE6-B9A0-EFBEEA892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BE10-EFE4-4A34-B333-B71CDD3CE2EE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67A4F4-7794-4CC1-B30D-C0281A13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DB7EBC-6338-44E6-8588-D3D3082EF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FC49F-5B68-48AF-9BF3-6C7FDE4E48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252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B139CB4-D5C7-47A2-8486-FECAEEB54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59AB59-DAB0-4635-8D27-A7A95095D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7627DE-33C5-486C-865D-E475BD6C9D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5BE10-EFE4-4A34-B333-B71CDD3CE2EE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D5303B-ECCE-46F9-8C10-978EAB1E3E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470C2E-143E-44B6-9644-A0EA0D5F3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DFC49F-5B68-48AF-9BF3-6C7FDE4E48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126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956878-ABEC-AF9A-D2CE-3CA826B6E387}"/>
              </a:ext>
            </a:extLst>
          </p:cNvPr>
          <p:cNvSpPr txBox="1"/>
          <p:nvPr/>
        </p:nvSpPr>
        <p:spPr>
          <a:xfrm>
            <a:off x="546004" y="1223428"/>
            <a:ext cx="6168676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0">
              <a:defRPr/>
            </a:pPr>
            <a:r>
              <a:rPr lang="ko-KR" altLang="en-US" sz="4800" b="1" spc="100">
                <a:solidFill>
                  <a:schemeClr val="bg1">
                    <a:lumMod val="9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애플리케이션배포 평가</a:t>
            </a:r>
            <a:endParaRPr lang="en-US" altLang="ko-KR" sz="4800" b="1" spc="100">
              <a:solidFill>
                <a:schemeClr val="bg1">
                  <a:lumMod val="9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 latinLnBrk="0">
              <a:defRPr/>
            </a:pPr>
            <a:r>
              <a:rPr lang="en-US" altLang="ko-KR" sz="2000" kern="0" spc="100">
                <a:solidFill>
                  <a:prstClr val="white">
                    <a:lumMod val="65000"/>
                  </a:prst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(TodoList CRUD </a:t>
            </a:r>
            <a:r>
              <a:rPr lang="ko-KR" altLang="en-US" sz="2000" kern="0" spc="100">
                <a:solidFill>
                  <a:prstClr val="white">
                    <a:lumMod val="65000"/>
                  </a:prst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기능 및 </a:t>
            </a:r>
            <a:r>
              <a:rPr lang="en-US" altLang="ko-KR" sz="2000" kern="0" spc="100">
                <a:solidFill>
                  <a:prstClr val="white">
                    <a:lumMod val="65000"/>
                  </a:prst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LocalStorage </a:t>
            </a:r>
            <a:r>
              <a:rPr lang="ko-KR" altLang="en-US" sz="2000" kern="0" spc="100">
                <a:solidFill>
                  <a:prstClr val="white">
                    <a:lumMod val="65000"/>
                  </a:prst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저장 포함</a:t>
            </a:r>
            <a:r>
              <a:rPr lang="en-US" altLang="ko-KR" sz="2000" kern="0" spc="100">
                <a:solidFill>
                  <a:prstClr val="white">
                    <a:lumMod val="65000"/>
                  </a:prst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EB93D-E860-DD72-63D2-BA2ACD126D65}"/>
              </a:ext>
            </a:extLst>
          </p:cNvPr>
          <p:cNvSpPr txBox="1"/>
          <p:nvPr/>
        </p:nvSpPr>
        <p:spPr>
          <a:xfrm>
            <a:off x="513347" y="2903620"/>
            <a:ext cx="13051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작성자 </a:t>
            </a:r>
            <a:r>
              <a:rPr lang="en-US" altLang="ko-KR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4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성아인</a:t>
            </a:r>
            <a:endParaRPr lang="ko-KR" altLang="en-US" sz="14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A083F78-7EAC-088E-92A6-2CCA7C19FAAA}"/>
              </a:ext>
            </a:extLst>
          </p:cNvPr>
          <p:cNvCxnSpPr>
            <a:cxnSpLocks/>
          </p:cNvCxnSpPr>
          <p:nvPr/>
        </p:nvCxnSpPr>
        <p:spPr>
          <a:xfrm>
            <a:off x="513347" y="2542674"/>
            <a:ext cx="117000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628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23374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10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개요</a:t>
            </a:r>
            <a:endParaRPr lang="ko-KR" altLang="en-US" sz="2800" b="1" spc="100" dirty="0">
              <a:solidFill>
                <a:srgbClr val="224D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254DFCD-6BFA-802A-68C5-CE8AE1818DA3}"/>
              </a:ext>
            </a:extLst>
          </p:cNvPr>
          <p:cNvSpPr txBox="1"/>
          <p:nvPr/>
        </p:nvSpPr>
        <p:spPr>
          <a:xfrm>
            <a:off x="6003638" y="2672718"/>
            <a:ext cx="184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ko-KR" altLang="en-US" sz="7200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501EAC-39D2-CA09-720C-EDF7F167A7D4}"/>
              </a:ext>
            </a:extLst>
          </p:cNvPr>
          <p:cNvSpPr txBox="1"/>
          <p:nvPr/>
        </p:nvSpPr>
        <p:spPr>
          <a:xfrm>
            <a:off x="2175998" y="2674761"/>
            <a:ext cx="7856044" cy="1987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React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를 활용하여 사용자의 일정 관리를 돕는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TodoList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웹 서비스를 구현한 프로젝트이다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웹 애플리케이션의 기본이 되는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CRUD(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등록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조회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수정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삭제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기능을 구현하였다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이에 더해 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LocalStorage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저장 로직을 구현함으로써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600">
                <a:latin typeface="Noto Sans KR" panose="020B0200000000000000" pitchFamily="50" charset="-127"/>
                <a:ea typeface="Noto Sans KR" panose="020B0200000000000000" pitchFamily="50" charset="-127"/>
              </a:rPr>
              <a:t>별도의 데이터베이스 없이도 브라우저 내에서 데이터가 유지되도록 하였다</a:t>
            </a:r>
            <a:r>
              <a:rPr lang="en-US" altLang="ko-KR" sz="160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11" name="양쪽 대괄호 10">
            <a:extLst>
              <a:ext uri="{FF2B5EF4-FFF2-40B4-BE49-F238E27FC236}">
                <a16:creationId xmlns:a16="http://schemas.microsoft.com/office/drawing/2014/main" id="{BB84A156-89D3-24C7-611D-EAAE09E85E87}"/>
              </a:ext>
            </a:extLst>
          </p:cNvPr>
          <p:cNvSpPr/>
          <p:nvPr/>
        </p:nvSpPr>
        <p:spPr>
          <a:xfrm>
            <a:off x="1163052" y="2129883"/>
            <a:ext cx="9881937" cy="3077737"/>
          </a:xfrm>
          <a:prstGeom prst="bracketPair">
            <a:avLst>
              <a:gd name="adj" fmla="val 12319"/>
            </a:avLst>
          </a:prstGeom>
          <a:ln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C43583-3527-4663-A326-87AD5B87B248}"/>
              </a:ext>
            </a:extLst>
          </p:cNvPr>
          <p:cNvSpPr txBox="1"/>
          <p:nvPr/>
        </p:nvSpPr>
        <p:spPr>
          <a:xfrm>
            <a:off x="144378" y="272716"/>
            <a:ext cx="8194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Page </a:t>
            </a:r>
            <a:r>
              <a:rPr lang="en-US" altLang="ko-KR" sz="1600" dirty="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600" dirty="0">
              <a:solidFill>
                <a:srgbClr val="224D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1788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254DFCD-6BFA-802A-68C5-CE8AE1818DA3}"/>
              </a:ext>
            </a:extLst>
          </p:cNvPr>
          <p:cNvSpPr txBox="1"/>
          <p:nvPr/>
        </p:nvSpPr>
        <p:spPr>
          <a:xfrm>
            <a:off x="6003638" y="2672718"/>
            <a:ext cx="184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ko-KR" altLang="en-US" sz="7200" b="1" dirty="0">
              <a:solidFill>
                <a:schemeClr val="accent1"/>
              </a:solidFill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18B7E1F-7F77-4B85-8452-6D36F611211E}"/>
              </a:ext>
            </a:extLst>
          </p:cNvPr>
          <p:cNvGrpSpPr/>
          <p:nvPr/>
        </p:nvGrpSpPr>
        <p:grpSpPr>
          <a:xfrm>
            <a:off x="913149" y="2360626"/>
            <a:ext cx="10365702" cy="2627704"/>
            <a:chOff x="1181764" y="2360626"/>
            <a:chExt cx="10365702" cy="2627704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E8C08B41-5856-47D0-8280-6458E4B79D3B}"/>
                </a:ext>
              </a:extLst>
            </p:cNvPr>
            <p:cNvGrpSpPr/>
            <p:nvPr/>
          </p:nvGrpSpPr>
          <p:grpSpPr>
            <a:xfrm>
              <a:off x="1181764" y="2360626"/>
              <a:ext cx="4727962" cy="505594"/>
              <a:chOff x="1814352" y="1492850"/>
              <a:chExt cx="4727962" cy="505594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A802D59-0FE0-4344-BD79-9886FF6D7EAB}"/>
                  </a:ext>
                </a:extLst>
              </p:cNvPr>
              <p:cNvSpPr txBox="1"/>
              <p:nvPr/>
            </p:nvSpPr>
            <p:spPr>
              <a:xfrm>
                <a:off x="1814352" y="1598334"/>
                <a:ext cx="341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b="1" dirty="0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</a:t>
                </a:r>
                <a:endParaRPr lang="ko-KR" altLang="en-US" sz="2000" b="1" dirty="0">
                  <a:solidFill>
                    <a:srgbClr val="224D6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31536B0-765F-4010-9253-958DD897D0C0}"/>
                  </a:ext>
                </a:extLst>
              </p:cNvPr>
              <p:cNvSpPr txBox="1"/>
              <p:nvPr/>
            </p:nvSpPr>
            <p:spPr>
              <a:xfrm>
                <a:off x="2543111" y="1492850"/>
                <a:ext cx="3999203" cy="4998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React</a:t>
                </a:r>
                <a:r>
                  <a:rPr lang="ko-KR" altLang="en-US" sz="2000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의 상태 관리</a:t>
                </a:r>
                <a:r>
                  <a:rPr lang="en-US" altLang="ko-KR" sz="2000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(useState) </a:t>
                </a:r>
                <a:r>
                  <a:rPr lang="ko-KR" altLang="en-US" sz="2000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학습</a:t>
                </a:r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901645A-0011-4CA4-9E7A-B4AF65B46B46}"/>
                </a:ext>
              </a:extLst>
            </p:cNvPr>
            <p:cNvGrpSpPr/>
            <p:nvPr/>
          </p:nvGrpSpPr>
          <p:grpSpPr>
            <a:xfrm>
              <a:off x="1181764" y="3421681"/>
              <a:ext cx="4727962" cy="505594"/>
              <a:chOff x="1814352" y="1492850"/>
              <a:chExt cx="4727962" cy="505594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85D1E-19BF-4260-B5B4-18EE8C6CF875}"/>
                  </a:ext>
                </a:extLst>
              </p:cNvPr>
              <p:cNvSpPr txBox="1"/>
              <p:nvPr/>
            </p:nvSpPr>
            <p:spPr>
              <a:xfrm>
                <a:off x="1814352" y="1598334"/>
                <a:ext cx="341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b="1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2</a:t>
                </a:r>
                <a:endParaRPr lang="ko-KR" altLang="en-US" sz="2000" b="1" dirty="0">
                  <a:solidFill>
                    <a:srgbClr val="224D6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5DF8669-A1A3-4F35-816C-7791360D0F50}"/>
                  </a:ext>
                </a:extLst>
              </p:cNvPr>
              <p:cNvSpPr txBox="1"/>
              <p:nvPr/>
            </p:nvSpPr>
            <p:spPr>
              <a:xfrm>
                <a:off x="2543111" y="1492850"/>
                <a:ext cx="3999203" cy="4998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000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컴포넌트 기반 개발 방식 이해</a:t>
                </a:r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D6D7B960-4CEC-4D41-959C-3590CEBEFFC3}"/>
                </a:ext>
              </a:extLst>
            </p:cNvPr>
            <p:cNvGrpSpPr/>
            <p:nvPr/>
          </p:nvGrpSpPr>
          <p:grpSpPr>
            <a:xfrm>
              <a:off x="1181764" y="4482736"/>
              <a:ext cx="4727962" cy="505594"/>
              <a:chOff x="1814352" y="1492850"/>
              <a:chExt cx="4727962" cy="505594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E506829-ACB1-4DEC-8086-25EC0F2CCF77}"/>
                  </a:ext>
                </a:extLst>
              </p:cNvPr>
              <p:cNvSpPr txBox="1"/>
              <p:nvPr/>
            </p:nvSpPr>
            <p:spPr>
              <a:xfrm>
                <a:off x="1814352" y="1598334"/>
                <a:ext cx="341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b="1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3</a:t>
                </a:r>
                <a:endParaRPr lang="ko-KR" altLang="en-US" sz="2000" b="1" dirty="0">
                  <a:solidFill>
                    <a:srgbClr val="224D6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3F247AF-0AD0-41F7-AE2D-AEEEC8059762}"/>
                  </a:ext>
                </a:extLst>
              </p:cNvPr>
              <p:cNvSpPr txBox="1"/>
              <p:nvPr/>
            </p:nvSpPr>
            <p:spPr>
              <a:xfrm>
                <a:off x="2543111" y="1492850"/>
                <a:ext cx="3999203" cy="4998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CRUD </a:t>
                </a:r>
                <a:r>
                  <a:rPr lang="ko-KR" altLang="en-US" sz="2000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기능 구현 경험</a:t>
                </a:r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C5566670-73A2-4E37-83D9-74AAE694FB85}"/>
                </a:ext>
              </a:extLst>
            </p:cNvPr>
            <p:cNvGrpSpPr/>
            <p:nvPr/>
          </p:nvGrpSpPr>
          <p:grpSpPr>
            <a:xfrm>
              <a:off x="6296989" y="2360626"/>
              <a:ext cx="5006598" cy="505594"/>
              <a:chOff x="1814352" y="1492850"/>
              <a:chExt cx="5006598" cy="505594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D853786-1C1D-4642-88A8-9EEEDD827A2D}"/>
                  </a:ext>
                </a:extLst>
              </p:cNvPr>
              <p:cNvSpPr txBox="1"/>
              <p:nvPr/>
            </p:nvSpPr>
            <p:spPr>
              <a:xfrm>
                <a:off x="1814352" y="1598334"/>
                <a:ext cx="341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b="1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4</a:t>
                </a:r>
                <a:endParaRPr lang="ko-KR" altLang="en-US" sz="2000" b="1" dirty="0">
                  <a:solidFill>
                    <a:srgbClr val="224D6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67B238D-FF04-46D9-ABD1-FBBB3F221B02}"/>
                  </a:ext>
                </a:extLst>
              </p:cNvPr>
              <p:cNvSpPr txBox="1"/>
              <p:nvPr/>
            </p:nvSpPr>
            <p:spPr>
              <a:xfrm>
                <a:off x="2543111" y="1492850"/>
                <a:ext cx="4277839" cy="4998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LocalStorage</a:t>
                </a:r>
                <a:r>
                  <a:rPr lang="ko-KR" altLang="en-US" sz="2000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를 활용한 데이터 저장</a:t>
                </a:r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C7A87224-7466-4248-B910-1C647FBB4A0D}"/>
                </a:ext>
              </a:extLst>
            </p:cNvPr>
            <p:cNvGrpSpPr/>
            <p:nvPr/>
          </p:nvGrpSpPr>
          <p:grpSpPr>
            <a:xfrm>
              <a:off x="6296989" y="3421683"/>
              <a:ext cx="5250477" cy="505594"/>
              <a:chOff x="1814352" y="1492850"/>
              <a:chExt cx="5250477" cy="505594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BF8AE5B-3ECB-4372-9709-960391A2B050}"/>
                  </a:ext>
                </a:extLst>
              </p:cNvPr>
              <p:cNvSpPr txBox="1"/>
              <p:nvPr/>
            </p:nvSpPr>
            <p:spPr>
              <a:xfrm>
                <a:off x="1814352" y="1598334"/>
                <a:ext cx="341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b="1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5</a:t>
                </a:r>
                <a:endParaRPr lang="ko-KR" altLang="en-US" sz="2000" b="1" dirty="0">
                  <a:solidFill>
                    <a:srgbClr val="224D6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A7C0EB-FC4E-40CB-9705-1515173EC1AF}"/>
                  </a:ext>
                </a:extLst>
              </p:cNvPr>
              <p:cNvSpPr txBox="1"/>
              <p:nvPr/>
            </p:nvSpPr>
            <p:spPr>
              <a:xfrm>
                <a:off x="2543111" y="1492850"/>
                <a:ext cx="4521718" cy="4998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000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사용자 인터페이스</a:t>
                </a:r>
                <a:r>
                  <a:rPr lang="en-US" altLang="ko-KR" sz="2000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(UI) </a:t>
                </a:r>
                <a:r>
                  <a:rPr lang="ko-KR" altLang="en-US" sz="2000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구성 능력 향상</a:t>
                </a:r>
              </a:p>
            </p:txBody>
          </p:sp>
        </p:grp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B3A5E9B-5507-4BEB-9FB7-0EE2A92D549E}"/>
              </a:ext>
            </a:extLst>
          </p:cNvPr>
          <p:cNvSpPr txBox="1"/>
          <p:nvPr/>
        </p:nvSpPr>
        <p:spPr>
          <a:xfrm>
            <a:off x="1163052" y="272716"/>
            <a:ext cx="16514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10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 목적</a:t>
            </a:r>
            <a:endParaRPr lang="ko-KR" altLang="en-US" sz="2800" b="1" spc="100" dirty="0">
              <a:solidFill>
                <a:srgbClr val="224D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3064D4-E35A-425B-B366-428493669C08}"/>
              </a:ext>
            </a:extLst>
          </p:cNvPr>
          <p:cNvSpPr txBox="1"/>
          <p:nvPr/>
        </p:nvSpPr>
        <p:spPr>
          <a:xfrm>
            <a:off x="144378" y="272716"/>
            <a:ext cx="8194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Page 2</a:t>
            </a:r>
            <a:endParaRPr lang="ko-KR" altLang="en-US" sz="1600" dirty="0">
              <a:solidFill>
                <a:srgbClr val="224D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5438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254DFCD-6BFA-802A-68C5-CE8AE1818DA3}"/>
              </a:ext>
            </a:extLst>
          </p:cNvPr>
          <p:cNvSpPr txBox="1"/>
          <p:nvPr/>
        </p:nvSpPr>
        <p:spPr>
          <a:xfrm>
            <a:off x="6003638" y="2672718"/>
            <a:ext cx="184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ko-KR" altLang="en-US" sz="7200" b="1" dirty="0">
              <a:solidFill>
                <a:schemeClr val="accent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3A5E9B-5507-4BEB-9FB7-0EE2A92D549E}"/>
              </a:ext>
            </a:extLst>
          </p:cNvPr>
          <p:cNvSpPr txBox="1"/>
          <p:nvPr/>
        </p:nvSpPr>
        <p:spPr>
          <a:xfrm>
            <a:off x="1163052" y="272716"/>
            <a:ext cx="16514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10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개발 환경</a:t>
            </a:r>
            <a:endParaRPr lang="ko-KR" altLang="en-US" sz="2800" b="1" spc="100" dirty="0">
              <a:solidFill>
                <a:srgbClr val="224D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3064D4-E35A-425B-B366-428493669C08}"/>
              </a:ext>
            </a:extLst>
          </p:cNvPr>
          <p:cNvSpPr txBox="1"/>
          <p:nvPr/>
        </p:nvSpPr>
        <p:spPr>
          <a:xfrm>
            <a:off x="144378" y="272716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Page 3 </a:t>
            </a:r>
            <a:endParaRPr lang="ko-KR" altLang="en-US" sz="1600" dirty="0">
              <a:solidFill>
                <a:srgbClr val="224D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7FDAC13-9EA5-4F69-A705-376D80679A1D}"/>
              </a:ext>
            </a:extLst>
          </p:cNvPr>
          <p:cNvGrpSpPr/>
          <p:nvPr/>
        </p:nvGrpSpPr>
        <p:grpSpPr>
          <a:xfrm>
            <a:off x="913149" y="2360626"/>
            <a:ext cx="10340966" cy="2627704"/>
            <a:chOff x="913149" y="2360626"/>
            <a:chExt cx="10340966" cy="2627704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E8C08B41-5856-47D0-8280-6458E4B79D3B}"/>
                </a:ext>
              </a:extLst>
            </p:cNvPr>
            <p:cNvGrpSpPr/>
            <p:nvPr/>
          </p:nvGrpSpPr>
          <p:grpSpPr>
            <a:xfrm>
              <a:off x="913149" y="2360626"/>
              <a:ext cx="4727962" cy="505594"/>
              <a:chOff x="1814352" y="1492850"/>
              <a:chExt cx="4727962" cy="505594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A802D59-0FE0-4344-BD79-9886FF6D7EAB}"/>
                  </a:ext>
                </a:extLst>
              </p:cNvPr>
              <p:cNvSpPr txBox="1"/>
              <p:nvPr/>
            </p:nvSpPr>
            <p:spPr>
              <a:xfrm>
                <a:off x="1814352" y="1598334"/>
                <a:ext cx="341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b="1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</a:t>
                </a:r>
                <a:endParaRPr lang="ko-KR" altLang="en-US" sz="2000" b="1" dirty="0">
                  <a:solidFill>
                    <a:srgbClr val="224D6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31536B0-765F-4010-9253-958DD897D0C0}"/>
                  </a:ext>
                </a:extLst>
              </p:cNvPr>
              <p:cNvSpPr txBox="1"/>
              <p:nvPr/>
            </p:nvSpPr>
            <p:spPr>
              <a:xfrm>
                <a:off x="2543111" y="1492850"/>
                <a:ext cx="3999203" cy="4998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Framework: React</a:t>
                </a:r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901645A-0011-4CA4-9E7A-B4AF65B46B46}"/>
                </a:ext>
              </a:extLst>
            </p:cNvPr>
            <p:cNvGrpSpPr/>
            <p:nvPr/>
          </p:nvGrpSpPr>
          <p:grpSpPr>
            <a:xfrm>
              <a:off x="913149" y="3421681"/>
              <a:ext cx="4727962" cy="505594"/>
              <a:chOff x="1814352" y="1492850"/>
              <a:chExt cx="4727962" cy="505594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A85D1E-19BF-4260-B5B4-18EE8C6CF875}"/>
                  </a:ext>
                </a:extLst>
              </p:cNvPr>
              <p:cNvSpPr txBox="1"/>
              <p:nvPr/>
            </p:nvSpPr>
            <p:spPr>
              <a:xfrm>
                <a:off x="1814352" y="1598334"/>
                <a:ext cx="341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b="1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2</a:t>
                </a:r>
                <a:endParaRPr lang="ko-KR" altLang="en-US" sz="2000" b="1" dirty="0">
                  <a:solidFill>
                    <a:srgbClr val="224D6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5DF8669-A1A3-4F35-816C-7791360D0F50}"/>
                  </a:ext>
                </a:extLst>
              </p:cNvPr>
              <p:cNvSpPr txBox="1"/>
              <p:nvPr/>
            </p:nvSpPr>
            <p:spPr>
              <a:xfrm>
                <a:off x="2543111" y="1492850"/>
                <a:ext cx="3999203" cy="4987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Language: JavaScript</a:t>
                </a:r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D6D7B960-4CEC-4D41-959C-3590CEBEFFC3}"/>
                </a:ext>
              </a:extLst>
            </p:cNvPr>
            <p:cNvGrpSpPr/>
            <p:nvPr/>
          </p:nvGrpSpPr>
          <p:grpSpPr>
            <a:xfrm>
              <a:off x="913149" y="4482736"/>
              <a:ext cx="4727962" cy="505594"/>
              <a:chOff x="1814352" y="1492850"/>
              <a:chExt cx="4727962" cy="505594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E506829-ACB1-4DEC-8086-25EC0F2CCF77}"/>
                  </a:ext>
                </a:extLst>
              </p:cNvPr>
              <p:cNvSpPr txBox="1"/>
              <p:nvPr/>
            </p:nvSpPr>
            <p:spPr>
              <a:xfrm>
                <a:off x="1814352" y="1598334"/>
                <a:ext cx="341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b="1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3</a:t>
                </a:r>
                <a:endParaRPr lang="ko-KR" altLang="en-US" sz="2000" b="1" dirty="0">
                  <a:solidFill>
                    <a:srgbClr val="224D6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3F247AF-0AD0-41F7-AE2D-AEEEC8059762}"/>
                  </a:ext>
                </a:extLst>
              </p:cNvPr>
              <p:cNvSpPr txBox="1"/>
              <p:nvPr/>
            </p:nvSpPr>
            <p:spPr>
              <a:xfrm>
                <a:off x="2543111" y="1492850"/>
                <a:ext cx="3999203" cy="4987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Styling : CSS</a:t>
                </a:r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C5566670-73A2-4E37-83D9-74AAE694FB85}"/>
                </a:ext>
              </a:extLst>
            </p:cNvPr>
            <p:cNvGrpSpPr/>
            <p:nvPr/>
          </p:nvGrpSpPr>
          <p:grpSpPr>
            <a:xfrm>
              <a:off x="6003638" y="2360626"/>
              <a:ext cx="5006598" cy="505594"/>
              <a:chOff x="1814352" y="1492850"/>
              <a:chExt cx="5006598" cy="505594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D853786-1C1D-4642-88A8-9EEEDD827A2D}"/>
                  </a:ext>
                </a:extLst>
              </p:cNvPr>
              <p:cNvSpPr txBox="1"/>
              <p:nvPr/>
            </p:nvSpPr>
            <p:spPr>
              <a:xfrm>
                <a:off x="1814352" y="1598334"/>
                <a:ext cx="341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b="1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4</a:t>
                </a:r>
                <a:endParaRPr lang="ko-KR" altLang="en-US" sz="2000" b="1" dirty="0">
                  <a:solidFill>
                    <a:srgbClr val="224D6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67B238D-FF04-46D9-ABD1-FBBB3F221B02}"/>
                  </a:ext>
                </a:extLst>
              </p:cNvPr>
              <p:cNvSpPr txBox="1"/>
              <p:nvPr/>
            </p:nvSpPr>
            <p:spPr>
              <a:xfrm>
                <a:off x="2543111" y="1492850"/>
                <a:ext cx="4277839" cy="4987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Package Manager: npm</a:t>
                </a:r>
              </a:p>
            </p:txBody>
          </p: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C7A87224-7466-4248-B910-1C647FBB4A0D}"/>
                </a:ext>
              </a:extLst>
            </p:cNvPr>
            <p:cNvGrpSpPr/>
            <p:nvPr/>
          </p:nvGrpSpPr>
          <p:grpSpPr>
            <a:xfrm>
              <a:off x="6003638" y="3421681"/>
              <a:ext cx="5250477" cy="505594"/>
              <a:chOff x="1814352" y="1492850"/>
              <a:chExt cx="5250477" cy="505594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BF8AE5B-3ECB-4372-9709-960391A2B050}"/>
                  </a:ext>
                </a:extLst>
              </p:cNvPr>
              <p:cNvSpPr txBox="1"/>
              <p:nvPr/>
            </p:nvSpPr>
            <p:spPr>
              <a:xfrm>
                <a:off x="1814352" y="1598334"/>
                <a:ext cx="341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b="1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5</a:t>
                </a:r>
                <a:endParaRPr lang="ko-KR" altLang="en-US" sz="2000" b="1" dirty="0">
                  <a:solidFill>
                    <a:srgbClr val="224D6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2A7C0EB-FC4E-40CB-9705-1515173EC1AF}"/>
                  </a:ext>
                </a:extLst>
              </p:cNvPr>
              <p:cNvSpPr txBox="1"/>
              <p:nvPr/>
            </p:nvSpPr>
            <p:spPr>
              <a:xfrm>
                <a:off x="2543111" y="1492850"/>
                <a:ext cx="4521718" cy="4987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000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개발 도구</a:t>
                </a:r>
                <a:r>
                  <a:rPr lang="en-US" altLang="ko-KR" sz="2000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(IDE):	VS Code</a:t>
                </a:r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FF8F6973-E2C4-4614-867A-867868666D2B}"/>
                </a:ext>
              </a:extLst>
            </p:cNvPr>
            <p:cNvGrpSpPr/>
            <p:nvPr/>
          </p:nvGrpSpPr>
          <p:grpSpPr>
            <a:xfrm>
              <a:off x="6003638" y="4482736"/>
              <a:ext cx="5250477" cy="505594"/>
              <a:chOff x="6003638" y="4482736"/>
              <a:chExt cx="5250477" cy="505594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2EBB702-03CB-4CAE-B27A-999EC9CE81F5}"/>
                  </a:ext>
                </a:extLst>
              </p:cNvPr>
              <p:cNvSpPr txBox="1"/>
              <p:nvPr/>
            </p:nvSpPr>
            <p:spPr>
              <a:xfrm>
                <a:off x="6003638" y="4588220"/>
                <a:ext cx="341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b="1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6</a:t>
                </a:r>
                <a:endParaRPr lang="ko-KR" altLang="en-US" sz="2000" b="1" dirty="0">
                  <a:solidFill>
                    <a:srgbClr val="224D6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16DDCB8-569F-405C-B81E-BD484AE73423}"/>
                  </a:ext>
                </a:extLst>
              </p:cNvPr>
              <p:cNvSpPr txBox="1"/>
              <p:nvPr/>
            </p:nvSpPr>
            <p:spPr>
              <a:xfrm>
                <a:off x="6732397" y="4482736"/>
                <a:ext cx="4521718" cy="4987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000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배포</a:t>
                </a:r>
                <a:r>
                  <a:rPr lang="en-US" altLang="ko-KR" sz="2000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</a:t>
                </a:r>
                <a:r>
                  <a:rPr lang="ko-KR" altLang="en-US" sz="2000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깃허브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61838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E24D935-BC2F-4750-8724-AC8609EADC6A}"/>
              </a:ext>
            </a:extLst>
          </p:cNvPr>
          <p:cNvSpPr txBox="1"/>
          <p:nvPr/>
        </p:nvSpPr>
        <p:spPr>
          <a:xfrm>
            <a:off x="1163052" y="272716"/>
            <a:ext cx="16514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10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 기능</a:t>
            </a:r>
            <a:endParaRPr lang="ko-KR" altLang="en-US" sz="2800" b="1" spc="100" dirty="0">
              <a:solidFill>
                <a:srgbClr val="224D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A56523-A653-4D49-A700-0589C5F9DE9D}"/>
              </a:ext>
            </a:extLst>
          </p:cNvPr>
          <p:cNvSpPr txBox="1"/>
          <p:nvPr/>
        </p:nvSpPr>
        <p:spPr>
          <a:xfrm>
            <a:off x="144378" y="272716"/>
            <a:ext cx="865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Page 4 </a:t>
            </a:r>
            <a:endParaRPr lang="ko-KR" altLang="en-US" sz="1600" dirty="0">
              <a:solidFill>
                <a:srgbClr val="224D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0A2222-1861-0C93-F3FF-B480F0A8C532}"/>
              </a:ext>
            </a:extLst>
          </p:cNvPr>
          <p:cNvSpPr/>
          <p:nvPr/>
        </p:nvSpPr>
        <p:spPr>
          <a:xfrm>
            <a:off x="289314" y="1529472"/>
            <a:ext cx="2041451" cy="2480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86559F-3837-B749-A77F-EE960F0146CE}"/>
              </a:ext>
            </a:extLst>
          </p:cNvPr>
          <p:cNvSpPr/>
          <p:nvPr/>
        </p:nvSpPr>
        <p:spPr>
          <a:xfrm>
            <a:off x="289314" y="1529470"/>
            <a:ext cx="2041451" cy="604280"/>
          </a:xfrm>
          <a:prstGeom prst="rect">
            <a:avLst/>
          </a:prstGeom>
          <a:solidFill>
            <a:srgbClr val="224D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9B041E-DDEB-6C62-ECA0-3BC0C2E9BA85}"/>
              </a:ext>
            </a:extLst>
          </p:cNvPr>
          <p:cNvSpPr txBox="1"/>
          <p:nvPr/>
        </p:nvSpPr>
        <p:spPr>
          <a:xfrm>
            <a:off x="467501" y="1677722"/>
            <a:ext cx="16850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>
                <a:solidFill>
                  <a:schemeClr val="bg1">
                    <a:lumMod val="9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할 일 추가 </a:t>
            </a:r>
            <a:r>
              <a:rPr lang="en-US" altLang="ko-KR" sz="1400" b="1">
                <a:solidFill>
                  <a:schemeClr val="bg1">
                    <a:lumMod val="9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(Create)</a:t>
            </a:r>
            <a:endParaRPr lang="ko-KR" altLang="en-US" sz="1400" b="1" dirty="0">
              <a:solidFill>
                <a:schemeClr val="bg1">
                  <a:lumMod val="9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E2E9DD-A907-410C-F125-ADC1C9942C5F}"/>
              </a:ext>
            </a:extLst>
          </p:cNvPr>
          <p:cNvSpPr txBox="1"/>
          <p:nvPr/>
        </p:nvSpPr>
        <p:spPr>
          <a:xfrm>
            <a:off x="468592" y="2358488"/>
            <a:ext cx="1682895" cy="1347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400" spc="-15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사용자가 입력창에 내용을 작성 후 추가 버튼을 누르면 새로운 </a:t>
            </a:r>
            <a:r>
              <a:rPr lang="en-US" altLang="ko-KR" sz="1400" spc="-15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Todo</a:t>
            </a:r>
            <a:r>
              <a:rPr lang="ko-KR" altLang="en-US" sz="1400" spc="-15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 생성된다</a:t>
            </a:r>
            <a:r>
              <a:rPr lang="en-US" altLang="ko-KR" sz="1400" spc="-15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3D23C645-EC17-403F-96EC-FE6400EF0607}"/>
              </a:ext>
            </a:extLst>
          </p:cNvPr>
          <p:cNvGrpSpPr/>
          <p:nvPr/>
        </p:nvGrpSpPr>
        <p:grpSpPr>
          <a:xfrm>
            <a:off x="289314" y="4129933"/>
            <a:ext cx="1932728" cy="1188615"/>
            <a:chOff x="928225" y="4665219"/>
            <a:chExt cx="1932728" cy="118861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925BD38-1355-AAE3-2553-362CAFB84745}"/>
                </a:ext>
              </a:extLst>
            </p:cNvPr>
            <p:cNvSpPr txBox="1"/>
            <p:nvPr/>
          </p:nvSpPr>
          <p:spPr>
            <a:xfrm>
              <a:off x="928225" y="4665219"/>
              <a:ext cx="11368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>
                  <a:solidFill>
                    <a:srgbClr val="224D6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&gt;&gt; </a:t>
              </a:r>
              <a:r>
                <a:rPr lang="ko-KR" altLang="en-US" sz="1400" b="1">
                  <a:solidFill>
                    <a:srgbClr val="224D6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구현 기능</a:t>
              </a:r>
              <a:endParaRPr lang="ko-KR" altLang="en-US" sz="1400" b="1" dirty="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F33D018-8C1B-4718-8BFE-658F980C81C7}"/>
                </a:ext>
              </a:extLst>
            </p:cNvPr>
            <p:cNvSpPr txBox="1"/>
            <p:nvPr/>
          </p:nvSpPr>
          <p:spPr>
            <a:xfrm>
              <a:off x="1163052" y="4963013"/>
              <a:ext cx="1697901" cy="8908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>
                  <a:latin typeface="Noto Sans KR" panose="020B0200000000000000" pitchFamily="50" charset="-127"/>
                  <a:ea typeface="Noto Sans KR" panose="020B0200000000000000" pitchFamily="50" charset="-127"/>
                </a:rPr>
                <a:t>입력값 검증</a:t>
              </a: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>
                  <a:latin typeface="Noto Sans KR" panose="020B0200000000000000" pitchFamily="50" charset="-127"/>
                  <a:ea typeface="Noto Sans KR" panose="020B0200000000000000" pitchFamily="50" charset="-127"/>
                </a:rPr>
                <a:t>빈 문자열 입력 방지</a:t>
              </a: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>
                  <a:latin typeface="Noto Sans KR" panose="020B0200000000000000" pitchFamily="50" charset="-127"/>
                  <a:ea typeface="Noto Sans KR" panose="020B0200000000000000" pitchFamily="50" charset="-127"/>
                </a:rPr>
                <a:t>실시간 상태 업데이트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5790C26-4726-4EB8-9A68-6D36C941A2F0}"/>
              </a:ext>
            </a:extLst>
          </p:cNvPr>
          <p:cNvGrpSpPr/>
          <p:nvPr/>
        </p:nvGrpSpPr>
        <p:grpSpPr>
          <a:xfrm>
            <a:off x="2631907" y="1529470"/>
            <a:ext cx="2041452" cy="3799061"/>
            <a:chOff x="3686782" y="2036556"/>
            <a:chExt cx="2041452" cy="3799061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C46E3184-B4FE-4D33-9DB7-2A9FDA79A92F}"/>
                </a:ext>
              </a:extLst>
            </p:cNvPr>
            <p:cNvGrpSpPr/>
            <p:nvPr/>
          </p:nvGrpSpPr>
          <p:grpSpPr>
            <a:xfrm>
              <a:off x="3686782" y="2036556"/>
              <a:ext cx="2041452" cy="2480413"/>
              <a:chOff x="3686782" y="2036556"/>
              <a:chExt cx="2041452" cy="2480413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4AF95BF3-A33E-3ED4-D4B8-1B89DC6B1DC5}"/>
                  </a:ext>
                </a:extLst>
              </p:cNvPr>
              <p:cNvSpPr/>
              <p:nvPr/>
            </p:nvSpPr>
            <p:spPr>
              <a:xfrm>
                <a:off x="3686783" y="2036558"/>
                <a:ext cx="2041451" cy="248041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D71F45B0-605A-3EEB-231C-67A24AD70A01}"/>
                  </a:ext>
                </a:extLst>
              </p:cNvPr>
              <p:cNvSpPr/>
              <p:nvPr/>
            </p:nvSpPr>
            <p:spPr>
              <a:xfrm>
                <a:off x="3686782" y="2036556"/>
                <a:ext cx="2041451" cy="604280"/>
              </a:xfrm>
              <a:prstGeom prst="rect">
                <a:avLst/>
              </a:prstGeom>
              <a:solidFill>
                <a:srgbClr val="224D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245D7FA-2EDE-736A-9A25-5D557ABCECD3}"/>
                  </a:ext>
                </a:extLst>
              </p:cNvPr>
              <p:cNvSpPr txBox="1"/>
              <p:nvPr/>
            </p:nvSpPr>
            <p:spPr>
              <a:xfrm>
                <a:off x="3866061" y="3078647"/>
                <a:ext cx="1682895" cy="700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ko-KR" altLang="en-US" sz="1400" spc="-15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등록된 </a:t>
                </a:r>
                <a:r>
                  <a:rPr lang="en-US" altLang="ko-KR" sz="1400" spc="-15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Todo </a:t>
                </a:r>
                <a:r>
                  <a:rPr lang="ko-KR" altLang="en-US" sz="1400" spc="-15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목록을 화면에 출력한다</a:t>
                </a:r>
                <a:r>
                  <a:rPr lang="en-US" altLang="ko-KR" sz="1400" spc="-15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.</a:t>
                </a:r>
                <a:endParaRPr lang="ko-KR" altLang="en-US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BB15A51-4908-4104-85C5-4388FE1CF395}"/>
                  </a:ext>
                </a:extLst>
              </p:cNvPr>
              <p:cNvSpPr txBox="1"/>
              <p:nvPr/>
            </p:nvSpPr>
            <p:spPr>
              <a:xfrm>
                <a:off x="3933898" y="2184808"/>
                <a:ext cx="15472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400" b="1">
                    <a:solidFill>
                      <a:schemeClr val="bg1">
                        <a:lumMod val="9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할 일 조회 </a:t>
                </a:r>
                <a:r>
                  <a:rPr lang="en-US" altLang="ko-KR" sz="1400" b="1">
                    <a:solidFill>
                      <a:schemeClr val="bg1">
                        <a:lumMod val="9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(Read)</a:t>
                </a:r>
                <a:endParaRPr lang="ko-KR" altLang="en-US" sz="1400" b="1" dirty="0">
                  <a:solidFill>
                    <a:schemeClr val="bg1">
                      <a:lumMod val="9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918A5B61-5B7D-47BA-AD34-3290B7A82EC7}"/>
                </a:ext>
              </a:extLst>
            </p:cNvPr>
            <p:cNvGrpSpPr/>
            <p:nvPr/>
          </p:nvGrpSpPr>
          <p:grpSpPr>
            <a:xfrm>
              <a:off x="3686782" y="4637019"/>
              <a:ext cx="1611082" cy="1198598"/>
              <a:chOff x="3675561" y="4665219"/>
              <a:chExt cx="1611082" cy="1198598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C550395-1C07-406F-8591-8974BC4F6D12}"/>
                  </a:ext>
                </a:extLst>
              </p:cNvPr>
              <p:cNvSpPr txBox="1"/>
              <p:nvPr/>
            </p:nvSpPr>
            <p:spPr>
              <a:xfrm>
                <a:off x="3675561" y="4665219"/>
                <a:ext cx="113685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&gt;&gt; </a:t>
                </a:r>
                <a:r>
                  <a:rPr lang="ko-KR" altLang="en-US" sz="1400" b="1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구현 기능</a:t>
                </a:r>
                <a:endParaRPr lang="ko-KR" altLang="en-US" sz="1400" b="1" dirty="0">
                  <a:solidFill>
                    <a:srgbClr val="224D6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1E9E99F-9365-4EE9-8D57-1D823B07F45E}"/>
                  </a:ext>
                </a:extLst>
              </p:cNvPr>
              <p:cNvSpPr txBox="1"/>
              <p:nvPr/>
            </p:nvSpPr>
            <p:spPr>
              <a:xfrm>
                <a:off x="3866061" y="4972996"/>
                <a:ext cx="1420582" cy="8908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20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리스트 렌더링</a:t>
                </a:r>
              </a:p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20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map() </a:t>
                </a:r>
                <a:r>
                  <a:rPr lang="ko-KR" altLang="en-US" sz="120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함수 사용</a:t>
                </a:r>
              </a:p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20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key </a:t>
                </a:r>
                <a:r>
                  <a:rPr lang="ko-KR" altLang="en-US" sz="120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값 부여</a:t>
                </a:r>
              </a:p>
            </p:txBody>
          </p:sp>
        </p:grp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CD6D07F9-2047-403C-B35C-9E9A09D70608}"/>
              </a:ext>
            </a:extLst>
          </p:cNvPr>
          <p:cNvGrpSpPr/>
          <p:nvPr/>
        </p:nvGrpSpPr>
        <p:grpSpPr>
          <a:xfrm>
            <a:off x="4974501" y="1529470"/>
            <a:ext cx="2126743" cy="3522062"/>
            <a:chOff x="6360049" y="2036556"/>
            <a:chExt cx="2126743" cy="3522062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38E868C8-9D05-4188-8220-294F38533F99}"/>
                </a:ext>
              </a:extLst>
            </p:cNvPr>
            <p:cNvGrpSpPr/>
            <p:nvPr/>
          </p:nvGrpSpPr>
          <p:grpSpPr>
            <a:xfrm>
              <a:off x="6445339" y="2036556"/>
              <a:ext cx="2041453" cy="2480413"/>
              <a:chOff x="6445339" y="2036556"/>
              <a:chExt cx="2041453" cy="2480413"/>
            </a:xfrm>
          </p:grpSpPr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7970CC38-9B93-3086-7155-DB6D495644D4}"/>
                  </a:ext>
                </a:extLst>
              </p:cNvPr>
              <p:cNvSpPr/>
              <p:nvPr/>
            </p:nvSpPr>
            <p:spPr>
              <a:xfrm>
                <a:off x="6445341" y="2036558"/>
                <a:ext cx="2041451" cy="248041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1E1A3D78-ED92-F94F-B0D0-BC15DEBDC75A}"/>
                  </a:ext>
                </a:extLst>
              </p:cNvPr>
              <p:cNvSpPr/>
              <p:nvPr/>
            </p:nvSpPr>
            <p:spPr>
              <a:xfrm>
                <a:off x="6445339" y="2036556"/>
                <a:ext cx="2041451" cy="604280"/>
              </a:xfrm>
              <a:prstGeom prst="rect">
                <a:avLst/>
              </a:prstGeom>
              <a:solidFill>
                <a:srgbClr val="224D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A0DB9D7-1638-4515-AB6B-29DD8F9A5710}"/>
                  </a:ext>
                </a:extLst>
              </p:cNvPr>
              <p:cNvSpPr txBox="1"/>
              <p:nvPr/>
            </p:nvSpPr>
            <p:spPr>
              <a:xfrm>
                <a:off x="6610702" y="2184808"/>
                <a:ext cx="171072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400" b="1">
                    <a:solidFill>
                      <a:schemeClr val="bg1">
                        <a:lumMod val="9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할 일 수정</a:t>
                </a:r>
                <a:r>
                  <a:rPr lang="en-US" altLang="ko-KR" sz="1400" b="1">
                    <a:solidFill>
                      <a:schemeClr val="bg1">
                        <a:lumMod val="9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(Update)</a:t>
                </a:r>
                <a:endParaRPr lang="ko-KR" altLang="en-US" sz="1400" b="1" dirty="0">
                  <a:solidFill>
                    <a:schemeClr val="bg1">
                      <a:lumMod val="9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C0AA0BB-1680-43E0-8A55-FED6711313F0}"/>
                  </a:ext>
                </a:extLst>
              </p:cNvPr>
              <p:cNvSpPr txBox="1"/>
              <p:nvPr/>
            </p:nvSpPr>
            <p:spPr>
              <a:xfrm>
                <a:off x="6624619" y="3078646"/>
                <a:ext cx="1682895" cy="700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ko-KR" altLang="en-US" sz="1400" spc="-15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수정 버튼 클릭 시 기존 내용을 수정할 수 있다</a:t>
                </a:r>
                <a:r>
                  <a:rPr lang="en-US" altLang="ko-KR" sz="1400" spc="-15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.</a:t>
                </a:r>
                <a:endParaRPr lang="ko-KR" altLang="en-US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616F9F38-FCB5-41BC-9E18-915FF0696460}"/>
                </a:ext>
              </a:extLst>
            </p:cNvPr>
            <p:cNvGrpSpPr/>
            <p:nvPr/>
          </p:nvGrpSpPr>
          <p:grpSpPr>
            <a:xfrm>
              <a:off x="6360049" y="4637019"/>
              <a:ext cx="2016641" cy="921599"/>
              <a:chOff x="6434119" y="4647002"/>
              <a:chExt cx="2016641" cy="921599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85BBC10-9A88-49EE-9836-C7619A65E36F}"/>
                  </a:ext>
                </a:extLst>
              </p:cNvPr>
              <p:cNvSpPr txBox="1"/>
              <p:nvPr/>
            </p:nvSpPr>
            <p:spPr>
              <a:xfrm>
                <a:off x="6434119" y="4647002"/>
                <a:ext cx="113685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&gt;&gt; </a:t>
                </a:r>
                <a:r>
                  <a:rPr lang="ko-KR" altLang="en-US" sz="1400" b="1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구현 기능</a:t>
                </a:r>
                <a:endParaRPr lang="ko-KR" altLang="en-US" sz="1400" b="1" dirty="0">
                  <a:solidFill>
                    <a:srgbClr val="224D6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253FFBA-2175-4B91-B974-422D51039C37}"/>
                  </a:ext>
                </a:extLst>
              </p:cNvPr>
              <p:cNvSpPr txBox="1"/>
              <p:nvPr/>
            </p:nvSpPr>
            <p:spPr>
              <a:xfrm>
                <a:off x="6624619" y="4954779"/>
                <a:ext cx="1826141" cy="613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20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특정 </a:t>
                </a:r>
                <a:r>
                  <a:rPr lang="en-US" altLang="ko-KR" sz="120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Todo </a:t>
                </a:r>
                <a:r>
                  <a:rPr lang="ko-KR" altLang="en-US" sz="120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데이터 변경</a:t>
                </a:r>
              </a:p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20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상태 업데이트</a:t>
                </a:r>
              </a:p>
            </p:txBody>
          </p:sp>
        </p:grp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9ED16BF-9E52-4F29-BE8D-794D74488CF5}"/>
              </a:ext>
            </a:extLst>
          </p:cNvPr>
          <p:cNvGrpSpPr/>
          <p:nvPr/>
        </p:nvGrpSpPr>
        <p:grpSpPr>
          <a:xfrm>
            <a:off x="7402386" y="1529470"/>
            <a:ext cx="2041455" cy="3522062"/>
            <a:chOff x="9203896" y="2036556"/>
            <a:chExt cx="2041455" cy="3522062"/>
          </a:xfrm>
        </p:grpSpPr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7E6B84B1-13A7-4527-BB07-6926453CE1D2}"/>
                </a:ext>
              </a:extLst>
            </p:cNvPr>
            <p:cNvGrpSpPr/>
            <p:nvPr/>
          </p:nvGrpSpPr>
          <p:grpSpPr>
            <a:xfrm>
              <a:off x="9203896" y="2036556"/>
              <a:ext cx="2041455" cy="2480413"/>
              <a:chOff x="9203896" y="2036556"/>
              <a:chExt cx="2041455" cy="2480413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43C8C25A-844B-8FFA-1272-6223DD0085C9}"/>
                  </a:ext>
                </a:extLst>
              </p:cNvPr>
              <p:cNvSpPr/>
              <p:nvPr/>
            </p:nvSpPr>
            <p:spPr>
              <a:xfrm>
                <a:off x="9203900" y="2036558"/>
                <a:ext cx="2041451" cy="248041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BD681D37-D302-8C28-4973-B7F299E24EAC}"/>
                  </a:ext>
                </a:extLst>
              </p:cNvPr>
              <p:cNvSpPr/>
              <p:nvPr/>
            </p:nvSpPr>
            <p:spPr>
              <a:xfrm>
                <a:off x="9203896" y="2036556"/>
                <a:ext cx="2041451" cy="604280"/>
              </a:xfrm>
              <a:prstGeom prst="rect">
                <a:avLst/>
              </a:prstGeom>
              <a:solidFill>
                <a:srgbClr val="224D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B84AE97-0C36-41EE-8670-CF7FD278E9B4}"/>
                  </a:ext>
                </a:extLst>
              </p:cNvPr>
              <p:cNvSpPr txBox="1"/>
              <p:nvPr/>
            </p:nvSpPr>
            <p:spPr>
              <a:xfrm>
                <a:off x="9388495" y="2184808"/>
                <a:ext cx="167225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400" b="1">
                    <a:solidFill>
                      <a:schemeClr val="bg1">
                        <a:lumMod val="9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할 일 삭제 </a:t>
                </a:r>
                <a:r>
                  <a:rPr lang="en-US" altLang="ko-KR" sz="1400" b="1">
                    <a:solidFill>
                      <a:schemeClr val="bg1">
                        <a:lumMod val="9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(Delete)</a:t>
                </a:r>
                <a:endParaRPr lang="ko-KR" altLang="en-US" sz="1400" b="1" dirty="0">
                  <a:solidFill>
                    <a:schemeClr val="bg1">
                      <a:lumMod val="9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9521E78-7066-4375-8CBC-DF366D69FE90}"/>
                  </a:ext>
                </a:extLst>
              </p:cNvPr>
              <p:cNvSpPr txBox="1"/>
              <p:nvPr/>
            </p:nvSpPr>
            <p:spPr>
              <a:xfrm>
                <a:off x="9383178" y="3078646"/>
                <a:ext cx="1682895" cy="700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ko-KR" altLang="en-US" sz="1400" spc="-15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삭제 버튼 클릭 시 해당 </a:t>
                </a:r>
                <a:r>
                  <a:rPr lang="en-US" altLang="ko-KR" sz="1400" spc="-15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Todo</a:t>
                </a:r>
                <a:r>
                  <a:rPr lang="ko-KR" altLang="en-US" sz="1400" spc="-15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가 제거된다</a:t>
                </a:r>
                <a:r>
                  <a:rPr lang="en-US" altLang="ko-KR" sz="1400" spc="-15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.</a:t>
                </a: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3260B06-B4EE-43D2-A32D-7DA62F61426E}"/>
                </a:ext>
              </a:extLst>
            </p:cNvPr>
            <p:cNvGrpSpPr/>
            <p:nvPr/>
          </p:nvGrpSpPr>
          <p:grpSpPr>
            <a:xfrm>
              <a:off x="9203896" y="4637019"/>
              <a:ext cx="1622302" cy="921599"/>
              <a:chOff x="9181455" y="4647002"/>
              <a:chExt cx="1622302" cy="921599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5BB2EFF-2B99-4B10-A48D-117ADC7029FC}"/>
                  </a:ext>
                </a:extLst>
              </p:cNvPr>
              <p:cNvSpPr txBox="1"/>
              <p:nvPr/>
            </p:nvSpPr>
            <p:spPr>
              <a:xfrm>
                <a:off x="9181455" y="4647002"/>
                <a:ext cx="113685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&gt;&gt; </a:t>
                </a:r>
                <a:r>
                  <a:rPr lang="ko-KR" altLang="en-US" sz="1400" b="1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구현 기능</a:t>
                </a:r>
                <a:endParaRPr lang="ko-KR" altLang="en-US" sz="1400" b="1" dirty="0">
                  <a:solidFill>
                    <a:srgbClr val="224D6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A3153CA-3E10-49C0-9682-E211C3159BB1}"/>
                  </a:ext>
                </a:extLst>
              </p:cNvPr>
              <p:cNvSpPr txBox="1"/>
              <p:nvPr/>
            </p:nvSpPr>
            <p:spPr>
              <a:xfrm>
                <a:off x="9371955" y="4954779"/>
                <a:ext cx="1431802" cy="6138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20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filter() </a:t>
                </a:r>
                <a:r>
                  <a:rPr lang="ko-KR" altLang="en-US" sz="120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함수 사용</a:t>
                </a:r>
              </a:p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20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상태 갱신</a:t>
                </a:r>
              </a:p>
            </p:txBody>
          </p:sp>
        </p:grp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67177E7D-E696-46F6-AE2D-CD8514CBA056}"/>
              </a:ext>
            </a:extLst>
          </p:cNvPr>
          <p:cNvGrpSpPr/>
          <p:nvPr/>
        </p:nvGrpSpPr>
        <p:grpSpPr>
          <a:xfrm>
            <a:off x="9744982" y="1529470"/>
            <a:ext cx="2157705" cy="3799061"/>
            <a:chOff x="9203896" y="2036556"/>
            <a:chExt cx="2157705" cy="3799061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648CE1CB-F007-4767-B69A-526DB741CDD0}"/>
                </a:ext>
              </a:extLst>
            </p:cNvPr>
            <p:cNvGrpSpPr/>
            <p:nvPr/>
          </p:nvGrpSpPr>
          <p:grpSpPr>
            <a:xfrm>
              <a:off x="9203896" y="2036556"/>
              <a:ext cx="2041455" cy="2480413"/>
              <a:chOff x="9203896" y="2036556"/>
              <a:chExt cx="2041455" cy="2480413"/>
            </a:xfrm>
          </p:grpSpPr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028E034E-A14E-46D6-9F75-FD258EA22B52}"/>
                  </a:ext>
                </a:extLst>
              </p:cNvPr>
              <p:cNvSpPr/>
              <p:nvPr/>
            </p:nvSpPr>
            <p:spPr>
              <a:xfrm>
                <a:off x="9203900" y="2036558"/>
                <a:ext cx="2041451" cy="248041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936D3EAA-8AF2-43D8-82F2-2EC40153090D}"/>
                  </a:ext>
                </a:extLst>
              </p:cNvPr>
              <p:cNvSpPr/>
              <p:nvPr/>
            </p:nvSpPr>
            <p:spPr>
              <a:xfrm>
                <a:off x="9203896" y="2036556"/>
                <a:ext cx="2041451" cy="604280"/>
              </a:xfrm>
              <a:prstGeom prst="rect">
                <a:avLst/>
              </a:prstGeom>
              <a:solidFill>
                <a:srgbClr val="224D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7C40C9C-E0BE-428E-9A4B-1463165D9422}"/>
                  </a:ext>
                </a:extLst>
              </p:cNvPr>
              <p:cNvSpPr txBox="1"/>
              <p:nvPr/>
            </p:nvSpPr>
            <p:spPr>
              <a:xfrm>
                <a:off x="9362842" y="2184808"/>
                <a:ext cx="172354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400" b="1">
                    <a:solidFill>
                      <a:schemeClr val="bg1">
                        <a:lumMod val="9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LocalStorage </a:t>
                </a:r>
                <a:r>
                  <a:rPr lang="ko-KR" altLang="en-US" sz="1400" b="1">
                    <a:solidFill>
                      <a:schemeClr val="bg1">
                        <a:lumMod val="9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저장</a:t>
                </a:r>
                <a:endParaRPr lang="ko-KR" altLang="en-US" sz="1400" b="1" dirty="0">
                  <a:solidFill>
                    <a:schemeClr val="bg1">
                      <a:lumMod val="9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F727C5C-2A92-4987-8A4D-18BAE6046626}"/>
                  </a:ext>
                </a:extLst>
              </p:cNvPr>
              <p:cNvSpPr txBox="1"/>
              <p:nvPr/>
            </p:nvSpPr>
            <p:spPr>
              <a:xfrm>
                <a:off x="9383178" y="3078646"/>
                <a:ext cx="1682895" cy="700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ko-KR" altLang="en-US" sz="1400" spc="-15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브라우저 새로고침 이후에도 데이터가 유지된다</a:t>
                </a:r>
                <a:r>
                  <a:rPr lang="en-US" altLang="ko-KR" sz="1400" spc="-15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.</a:t>
                </a:r>
              </a:p>
            </p:txBody>
          </p:sp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9F073CFC-064F-4571-AF0E-E0321257314D}"/>
                </a:ext>
              </a:extLst>
            </p:cNvPr>
            <p:cNvGrpSpPr/>
            <p:nvPr/>
          </p:nvGrpSpPr>
          <p:grpSpPr>
            <a:xfrm>
              <a:off x="9203896" y="4637019"/>
              <a:ext cx="2157705" cy="1198598"/>
              <a:chOff x="9181455" y="4647002"/>
              <a:chExt cx="2157705" cy="1198598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14BC173-5232-470C-BAA1-1A6B5FD4362D}"/>
                  </a:ext>
                </a:extLst>
              </p:cNvPr>
              <p:cNvSpPr txBox="1"/>
              <p:nvPr/>
            </p:nvSpPr>
            <p:spPr>
              <a:xfrm>
                <a:off x="9181455" y="4647002"/>
                <a:ext cx="113685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b="1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&gt;&gt; </a:t>
                </a:r>
                <a:r>
                  <a:rPr lang="ko-KR" altLang="en-US" sz="1400" b="1">
                    <a:solidFill>
                      <a:srgbClr val="224D6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구현 기능</a:t>
                </a:r>
                <a:endParaRPr lang="ko-KR" altLang="en-US" sz="1400" b="1" dirty="0">
                  <a:solidFill>
                    <a:srgbClr val="224D6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3F9509B-5E5D-4BCB-BA04-4A23C316F0F4}"/>
                  </a:ext>
                </a:extLst>
              </p:cNvPr>
              <p:cNvSpPr txBox="1"/>
              <p:nvPr/>
            </p:nvSpPr>
            <p:spPr>
              <a:xfrm>
                <a:off x="9371955" y="4954779"/>
                <a:ext cx="1967205" cy="8908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20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fiuseEffect </a:t>
                </a:r>
                <a:r>
                  <a:rPr lang="ko-KR" altLang="en-US" sz="120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사용</a:t>
                </a:r>
              </a:p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20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localStorage.setItem()</a:t>
                </a:r>
              </a:p>
              <a:p>
                <a:pPr marL="171450" indent="-1714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200"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localStorage.getItem()</a:t>
                </a:r>
                <a:endParaRPr lang="ko-KR" altLang="en-US" sz="1200"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05662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8707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10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코드</a:t>
            </a:r>
            <a:endParaRPr lang="ko-KR" altLang="en-US" sz="2800" b="1" spc="100" dirty="0">
              <a:solidFill>
                <a:srgbClr val="224D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5C43583-3527-4663-A326-87AD5B87B248}"/>
              </a:ext>
            </a:extLst>
          </p:cNvPr>
          <p:cNvSpPr txBox="1"/>
          <p:nvPr/>
        </p:nvSpPr>
        <p:spPr>
          <a:xfrm>
            <a:off x="144378" y="272716"/>
            <a:ext cx="8194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Page </a:t>
            </a:r>
            <a:r>
              <a:rPr lang="en-US" altLang="ko-KR" sz="1600" dirty="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endParaRPr lang="ko-KR" altLang="en-US" sz="1600" dirty="0">
              <a:solidFill>
                <a:srgbClr val="224D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84B2A8-0C09-468D-92E9-E9B97B46E5D9}"/>
              </a:ext>
            </a:extLst>
          </p:cNvPr>
          <p:cNvSpPr txBox="1"/>
          <p:nvPr/>
        </p:nvSpPr>
        <p:spPr>
          <a:xfrm>
            <a:off x="397867" y="977717"/>
            <a:ext cx="982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&gt;&gt; App.js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B7DA88B-B718-4D49-96F9-68571C29CD02}"/>
              </a:ext>
            </a:extLst>
          </p:cNvPr>
          <p:cNvSpPr/>
          <p:nvPr/>
        </p:nvSpPr>
        <p:spPr>
          <a:xfrm>
            <a:off x="679995" y="1445102"/>
            <a:ext cx="4130130" cy="9540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330C9F1-05AE-4D78-9B04-1015475D518A}"/>
              </a:ext>
            </a:extLst>
          </p:cNvPr>
          <p:cNvSpPr/>
          <p:nvPr/>
        </p:nvSpPr>
        <p:spPr>
          <a:xfrm>
            <a:off x="679995" y="3141521"/>
            <a:ext cx="4130130" cy="7180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8D5C51E-8437-4139-8256-43844636F829}"/>
              </a:ext>
            </a:extLst>
          </p:cNvPr>
          <p:cNvSpPr/>
          <p:nvPr/>
        </p:nvSpPr>
        <p:spPr>
          <a:xfrm>
            <a:off x="679995" y="4285215"/>
            <a:ext cx="4130130" cy="1458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A65DF5B-560E-4B34-9A48-0CBC5BE43F6C}"/>
              </a:ext>
            </a:extLst>
          </p:cNvPr>
          <p:cNvSpPr/>
          <p:nvPr/>
        </p:nvSpPr>
        <p:spPr>
          <a:xfrm>
            <a:off x="5840257" y="1445102"/>
            <a:ext cx="5589743" cy="9540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17C0603-2E13-4FA4-89F3-247B7AF3209E}"/>
              </a:ext>
            </a:extLst>
          </p:cNvPr>
          <p:cNvSpPr/>
          <p:nvPr/>
        </p:nvSpPr>
        <p:spPr>
          <a:xfrm>
            <a:off x="5825832" y="3191258"/>
            <a:ext cx="5605107" cy="9540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28DBBFF-F1F0-453F-922F-A367119980E7}"/>
              </a:ext>
            </a:extLst>
          </p:cNvPr>
          <p:cNvSpPr/>
          <p:nvPr/>
        </p:nvSpPr>
        <p:spPr>
          <a:xfrm>
            <a:off x="5833043" y="4634706"/>
            <a:ext cx="5596957" cy="11088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2A60125-9286-40F1-BBB0-6BE2AF480648}"/>
              </a:ext>
            </a:extLst>
          </p:cNvPr>
          <p:cNvGrpSpPr/>
          <p:nvPr/>
        </p:nvGrpSpPr>
        <p:grpSpPr>
          <a:xfrm>
            <a:off x="679995" y="1508318"/>
            <a:ext cx="10832010" cy="4778520"/>
            <a:chOff x="795733" y="1473022"/>
            <a:chExt cx="10832010" cy="477852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6D7CBDD-705B-41B0-80FD-52B4D6AF41FB}"/>
                </a:ext>
              </a:extLst>
            </p:cNvPr>
            <p:cNvSpPr txBox="1"/>
            <p:nvPr/>
          </p:nvSpPr>
          <p:spPr>
            <a:xfrm>
              <a:off x="795733" y="1476123"/>
              <a:ext cx="4471096" cy="15271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>
                  <a:solidFill>
                    <a:srgbClr val="C678DD"/>
                  </a:solidFill>
                  <a:effectLst/>
                  <a:latin typeface="Consolas" panose="020B0609020204030204" pitchFamily="49" charset="0"/>
                </a:rPr>
                <a:t>function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61AFEF"/>
                  </a:solidFill>
                  <a:effectLst/>
                  <a:latin typeface="Consolas" panose="020B0609020204030204" pitchFamily="49" charset="0"/>
                </a:rPr>
                <a:t>App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() {</a:t>
              </a:r>
              <a:endParaRPr lang="ko-KR" altLang="en-US" sz="1000" b="0">
                <a:solidFill>
                  <a:srgbClr val="ABB2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ko-KR" altLang="en-US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US" altLang="ko-KR" sz="1000" b="0">
                  <a:solidFill>
                    <a:srgbClr val="C678DD"/>
                  </a:solidFill>
                  <a:effectLst/>
                  <a:latin typeface="Consolas" panose="020B0609020204030204" pitchFamily="49" charset="0"/>
                </a:rPr>
                <a:t>const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[</a:t>
              </a:r>
              <a:r>
                <a:rPr lang="en-US" altLang="ko-KR" sz="1000" b="0">
                  <a:solidFill>
                    <a:srgbClr val="E5C07B"/>
                  </a:solidFill>
                  <a:effectLst/>
                  <a:latin typeface="Consolas" panose="020B0609020204030204" pitchFamily="49" charset="0"/>
                </a:rPr>
                <a:t>todos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altLang="ko-KR" sz="1000" b="0">
                  <a:solidFill>
                    <a:srgbClr val="61AFEF"/>
                  </a:solidFill>
                  <a:effectLst/>
                  <a:latin typeface="Consolas" panose="020B0609020204030204" pitchFamily="49" charset="0"/>
                </a:rPr>
                <a:t>setTodos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] </a:t>
              </a:r>
              <a:r>
                <a:rPr lang="en-US" altLang="ko-KR" sz="1000" b="0">
                  <a:solidFill>
                    <a:srgbClr val="56B6C2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61AFEF"/>
                  </a:solidFill>
                  <a:effectLst/>
                  <a:latin typeface="Consolas" panose="020B0609020204030204" pitchFamily="49" charset="0"/>
                </a:rPr>
                <a:t>useState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(()</a:t>
              </a:r>
              <a:r>
                <a:rPr lang="en-US" altLang="ko-KR" sz="1000" b="0">
                  <a:solidFill>
                    <a:srgbClr val="C678DD"/>
                  </a:solidFill>
                  <a:effectLst/>
                  <a:latin typeface="Consolas" panose="020B0609020204030204" pitchFamily="49" charset="0"/>
                </a:rPr>
                <a:t>=&gt;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{</a:t>
              </a:r>
            </a:p>
            <a:p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C678DD"/>
                  </a:solidFill>
                  <a:effectLst/>
                  <a:latin typeface="Consolas" panose="020B0609020204030204" pitchFamily="49" charset="0"/>
                </a:rPr>
                <a:t>const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E5C07B"/>
                  </a:solidFill>
                  <a:effectLst/>
                  <a:latin typeface="Consolas" panose="020B0609020204030204" pitchFamily="49" charset="0"/>
                </a:rPr>
                <a:t>savedTodos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56B6C2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E5C07B"/>
                  </a:solidFill>
                  <a:effectLst/>
                  <a:latin typeface="Consolas" panose="020B0609020204030204" pitchFamily="49" charset="0"/>
                </a:rPr>
                <a:t>localStorage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000" b="0">
                  <a:solidFill>
                    <a:srgbClr val="61AFEF"/>
                  </a:solidFill>
                  <a:effectLst/>
                  <a:latin typeface="Consolas" panose="020B0609020204030204" pitchFamily="49" charset="0"/>
                </a:rPr>
                <a:t>getItem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000" b="0">
                  <a:solidFill>
                    <a:srgbClr val="98C379"/>
                  </a:solidFill>
                  <a:effectLst/>
                  <a:latin typeface="Consolas" panose="020B0609020204030204" pitchFamily="49" charset="0"/>
                </a:rPr>
                <a:t>'todos'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C678DD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E5C07B"/>
                  </a:solidFill>
                  <a:effectLst/>
                  <a:latin typeface="Consolas" panose="020B0609020204030204" pitchFamily="49" charset="0"/>
                </a:rPr>
                <a:t>savedTodos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C678DD"/>
                  </a:solidFill>
                  <a:effectLst/>
                  <a:latin typeface="Consolas" panose="020B0609020204030204" pitchFamily="49" charset="0"/>
                </a:rPr>
                <a:t>?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E5C07B"/>
                  </a:solidFill>
                  <a:effectLst/>
                  <a:latin typeface="Consolas" panose="020B0609020204030204" pitchFamily="49" charset="0"/>
                </a:rPr>
                <a:t>JSON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000" b="0">
                  <a:solidFill>
                    <a:srgbClr val="61AFEF"/>
                  </a:solidFill>
                  <a:effectLst/>
                  <a:latin typeface="Consolas" panose="020B0609020204030204" pitchFamily="49" charset="0"/>
                </a:rPr>
                <a:t>parse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000" b="0">
                  <a:solidFill>
                    <a:srgbClr val="E5C07B"/>
                  </a:solidFill>
                  <a:effectLst/>
                  <a:latin typeface="Consolas" panose="020B0609020204030204" pitchFamily="49" charset="0"/>
                </a:rPr>
                <a:t>savedTodos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n-US" altLang="ko-KR" sz="1000" b="0">
                  <a:solidFill>
                    <a:srgbClr val="C678DD"/>
                  </a:solidFill>
                  <a:effectLst/>
                  <a:latin typeface="Consolas" panose="020B0609020204030204" pitchFamily="49" charset="0"/>
                </a:rPr>
                <a:t>: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[];</a:t>
              </a:r>
            </a:p>
            <a:p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  });</a:t>
              </a: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앱이 처음 켜질 때 로컬 스토리지에서 기존 데이터를 파싱하여 초기 상태로 설정</a:t>
              </a:r>
              <a:endPara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저장된 데이터가 없을 경우 빈 배열</a:t>
              </a:r>
              <a:r>
                <a:rPr lang="en-US" altLang="ko-KR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([ ])</a:t>
              </a:r>
              <a:r>
                <a:rPr lang="ko-KR" altLang="en-US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을 기본값으로 사용</a:t>
              </a:r>
              <a:endPara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033C9C7-C220-4A57-8945-389C1C07DE4B}"/>
                </a:ext>
              </a:extLst>
            </p:cNvPr>
            <p:cNvSpPr txBox="1"/>
            <p:nvPr/>
          </p:nvSpPr>
          <p:spPr>
            <a:xfrm>
              <a:off x="795733" y="3177202"/>
              <a:ext cx="4509568" cy="9115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>
                  <a:solidFill>
                    <a:srgbClr val="61AFEF"/>
                  </a:solidFill>
                  <a:effectLst/>
                  <a:latin typeface="Consolas" panose="020B0609020204030204" pitchFamily="49" charset="0"/>
                </a:rPr>
                <a:t>useEffect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(()</a:t>
              </a:r>
              <a:r>
                <a:rPr lang="en-US" altLang="ko-KR" sz="1000" b="0">
                  <a:solidFill>
                    <a:srgbClr val="C678DD"/>
                  </a:solidFill>
                  <a:effectLst/>
                  <a:latin typeface="Consolas" panose="020B0609020204030204" pitchFamily="49" charset="0"/>
                </a:rPr>
                <a:t>=&gt;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{</a:t>
              </a:r>
            </a:p>
            <a:p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E5C07B"/>
                  </a:solidFill>
                  <a:effectLst/>
                  <a:latin typeface="Consolas" panose="020B0609020204030204" pitchFamily="49" charset="0"/>
                </a:rPr>
                <a:t>localStorage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000" b="0">
                  <a:solidFill>
                    <a:srgbClr val="61AFEF"/>
                  </a:solidFill>
                  <a:effectLst/>
                  <a:latin typeface="Consolas" panose="020B0609020204030204" pitchFamily="49" charset="0"/>
                </a:rPr>
                <a:t>setItem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000" b="0">
                  <a:solidFill>
                    <a:srgbClr val="98C379"/>
                  </a:solidFill>
                  <a:effectLst/>
                  <a:latin typeface="Consolas" panose="020B0609020204030204" pitchFamily="49" charset="0"/>
                </a:rPr>
                <a:t>'todos'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,</a:t>
              </a:r>
              <a:r>
                <a:rPr lang="en-US" altLang="ko-KR" sz="1000" b="0">
                  <a:solidFill>
                    <a:srgbClr val="E5C07B"/>
                  </a:solidFill>
                  <a:effectLst/>
                  <a:latin typeface="Consolas" panose="020B0609020204030204" pitchFamily="49" charset="0"/>
                </a:rPr>
                <a:t>JSON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000" b="0">
                  <a:solidFill>
                    <a:srgbClr val="61AFEF"/>
                  </a:solidFill>
                  <a:effectLst/>
                  <a:latin typeface="Consolas" panose="020B0609020204030204" pitchFamily="49" charset="0"/>
                </a:rPr>
                <a:t>stringify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000" b="0">
                  <a:solidFill>
                    <a:srgbClr val="E5C07B"/>
                  </a:solidFill>
                  <a:effectLst/>
                  <a:latin typeface="Consolas" panose="020B0609020204030204" pitchFamily="49" charset="0"/>
                </a:rPr>
                <a:t>todos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));</a:t>
              </a:r>
            </a:p>
            <a:p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},[</a:t>
              </a:r>
              <a:r>
                <a:rPr lang="en-US" altLang="ko-KR" sz="1000" b="0">
                  <a:solidFill>
                    <a:srgbClr val="E5C07B"/>
                  </a:solidFill>
                  <a:effectLst/>
                  <a:latin typeface="Consolas" panose="020B0609020204030204" pitchFamily="49" charset="0"/>
                </a:rPr>
                <a:t>todos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]);</a:t>
              </a:r>
            </a:p>
            <a:p>
              <a:endPara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최신 데이터를 </a:t>
              </a:r>
              <a:r>
                <a:rPr lang="en-US" altLang="ko-KR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JSON </a:t>
              </a:r>
              <a:r>
                <a:rPr lang="ko-KR" altLang="en-US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문자열로 변환하여 브라우저 로컬 스토리지에 실시간 저장</a:t>
              </a:r>
              <a:endPara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8C4BF98-6AF0-441D-BFA6-40C88B384D27}"/>
                </a:ext>
              </a:extLst>
            </p:cNvPr>
            <p:cNvSpPr txBox="1"/>
            <p:nvPr/>
          </p:nvSpPr>
          <p:spPr>
            <a:xfrm>
              <a:off x="795733" y="4339672"/>
              <a:ext cx="4738798" cy="19118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>
                  <a:solidFill>
                    <a:srgbClr val="C678DD"/>
                  </a:solidFill>
                  <a:effectLst/>
                  <a:latin typeface="Consolas" panose="020B0609020204030204" pitchFamily="49" charset="0"/>
                </a:rPr>
                <a:t>const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61AFEF"/>
                  </a:solidFill>
                  <a:effectLst/>
                  <a:latin typeface="Consolas" panose="020B0609020204030204" pitchFamily="49" charset="0"/>
                </a:rPr>
                <a:t>addTodo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56B6C2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altLang="ko-KR" sz="1000" b="0" i="1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text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n-US" altLang="ko-KR" sz="1000" b="0">
                  <a:solidFill>
                    <a:srgbClr val="C678DD"/>
                  </a:solidFill>
                  <a:effectLst/>
                  <a:latin typeface="Consolas" panose="020B0609020204030204" pitchFamily="49" charset="0"/>
                </a:rPr>
                <a:t>=&gt;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{</a:t>
              </a:r>
            </a:p>
            <a:p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C678DD"/>
                  </a:solidFill>
                  <a:effectLst/>
                  <a:latin typeface="Consolas" panose="020B0609020204030204" pitchFamily="49" charset="0"/>
                </a:rPr>
                <a:t>const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E5C07B"/>
                  </a:solidFill>
                  <a:effectLst/>
                  <a:latin typeface="Consolas" panose="020B0609020204030204" pitchFamily="49" charset="0"/>
                </a:rPr>
                <a:t>newTodo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56B6C2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{</a:t>
              </a:r>
            </a:p>
            <a:p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000" b="0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id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:</a:t>
              </a:r>
              <a:r>
                <a:rPr lang="en-US" altLang="ko-KR" sz="1000" b="0">
                  <a:solidFill>
                    <a:srgbClr val="E5C07B"/>
                  </a:solidFill>
                  <a:effectLst/>
                  <a:latin typeface="Consolas" panose="020B0609020204030204" pitchFamily="49" charset="0"/>
                </a:rPr>
                <a:t>Date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000" b="0">
                  <a:solidFill>
                    <a:srgbClr val="61AFEF"/>
                  </a:solidFill>
                  <a:effectLst/>
                  <a:latin typeface="Consolas" panose="020B0609020204030204" pitchFamily="49" charset="0"/>
                </a:rPr>
                <a:t>now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(),</a:t>
              </a:r>
            </a:p>
            <a:p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000" b="0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text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:</a:t>
              </a:r>
              <a:r>
                <a:rPr lang="en-US" altLang="ko-KR" sz="1000" b="0" i="1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text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000" b="0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completed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:</a:t>
              </a:r>
              <a:r>
                <a:rPr lang="en-US" altLang="ko-KR" sz="1000" b="0">
                  <a:solidFill>
                    <a:srgbClr val="D19A66"/>
                  </a:solidFill>
                  <a:effectLst/>
                  <a:latin typeface="Consolas" panose="020B0609020204030204" pitchFamily="49" charset="0"/>
                </a:rPr>
                <a:t>false</a:t>
              </a:r>
              <a:endPara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endParaRPr>
            </a:p>
            <a:p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    };</a:t>
              </a:r>
            </a:p>
            <a:p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61AFEF"/>
                  </a:solidFill>
                  <a:effectLst/>
                  <a:latin typeface="Consolas" panose="020B0609020204030204" pitchFamily="49" charset="0"/>
                </a:rPr>
                <a:t>setTodos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([...</a:t>
              </a:r>
              <a:r>
                <a:rPr lang="en-US" altLang="ko-KR" sz="1000" b="0">
                  <a:solidFill>
                    <a:srgbClr val="E5C07B"/>
                  </a:solidFill>
                  <a:effectLst/>
                  <a:latin typeface="Consolas" panose="020B0609020204030204" pitchFamily="49" charset="0"/>
                </a:rPr>
                <a:t>todos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,</a:t>
              </a:r>
              <a:r>
                <a:rPr lang="en-US" altLang="ko-KR" sz="1000" b="0">
                  <a:solidFill>
                    <a:srgbClr val="E5C07B"/>
                  </a:solidFill>
                  <a:effectLst/>
                  <a:latin typeface="Consolas" panose="020B0609020204030204" pitchFamily="49" charset="0"/>
                </a:rPr>
                <a:t>newTodo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]);</a:t>
              </a:r>
            </a:p>
            <a:p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};</a:t>
              </a:r>
            </a:p>
            <a:p>
              <a:endPara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Date.now( )</a:t>
              </a:r>
              <a:r>
                <a:rPr lang="ko-KR" altLang="en-US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를 활용하여 각 할 일 항목에 중복 없는 고유한 </a:t>
              </a:r>
              <a:r>
                <a:rPr lang="en-US" altLang="ko-KR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ID </a:t>
              </a:r>
              <a:r>
                <a:rPr lang="ko-KR" altLang="en-US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값 부여</a:t>
              </a:r>
              <a:endPara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스프레드 연산자</a:t>
              </a:r>
              <a:r>
                <a:rPr lang="en-US" altLang="ko-KR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(...todos)</a:t>
              </a:r>
              <a:r>
                <a:rPr lang="ko-KR" altLang="en-US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를 사용하여 기존 배열의 원본을 해치지 않고 새 항목 추가</a:t>
              </a:r>
              <a:endPara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17B3AA3-5894-4EE1-BF7D-427FEB3D11C1}"/>
                </a:ext>
              </a:extLst>
            </p:cNvPr>
            <p:cNvSpPr txBox="1"/>
            <p:nvPr/>
          </p:nvSpPr>
          <p:spPr>
            <a:xfrm>
              <a:off x="5955996" y="1473022"/>
              <a:ext cx="3204723" cy="14502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>
                  <a:solidFill>
                    <a:srgbClr val="C678DD"/>
                  </a:solidFill>
                  <a:effectLst/>
                  <a:latin typeface="Consolas" panose="020B0609020204030204" pitchFamily="49" charset="0"/>
                </a:rPr>
                <a:t>const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61AFEF"/>
                  </a:solidFill>
                  <a:effectLst/>
                  <a:latin typeface="Consolas" panose="020B0609020204030204" pitchFamily="49" charset="0"/>
                </a:rPr>
                <a:t>deleteTodo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56B6C2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altLang="ko-KR" sz="1000" b="0" i="1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id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n-US" altLang="ko-KR" sz="1000" b="0">
                  <a:solidFill>
                    <a:srgbClr val="C678DD"/>
                  </a:solidFill>
                  <a:effectLst/>
                  <a:latin typeface="Consolas" panose="020B0609020204030204" pitchFamily="49" charset="0"/>
                </a:rPr>
                <a:t>=&gt;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{</a:t>
              </a:r>
            </a:p>
            <a:p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61AFEF"/>
                  </a:solidFill>
                  <a:effectLst/>
                  <a:latin typeface="Consolas" panose="020B0609020204030204" pitchFamily="49" charset="0"/>
                </a:rPr>
                <a:t>setTodos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(</a:t>
              </a:r>
            </a:p>
            <a:p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000" b="0">
                  <a:solidFill>
                    <a:srgbClr val="E5C07B"/>
                  </a:solidFill>
                  <a:effectLst/>
                  <a:latin typeface="Consolas" panose="020B0609020204030204" pitchFamily="49" charset="0"/>
                </a:rPr>
                <a:t>todos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000" b="0">
                  <a:solidFill>
                    <a:srgbClr val="61AFEF"/>
                  </a:solidFill>
                  <a:effectLst/>
                  <a:latin typeface="Consolas" panose="020B0609020204030204" pitchFamily="49" charset="0"/>
                </a:rPr>
                <a:t>filter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000" b="0" i="1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todo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C678DD"/>
                  </a:solidFill>
                  <a:effectLst/>
                  <a:latin typeface="Consolas" panose="020B0609020204030204" pitchFamily="49" charset="0"/>
                </a:rPr>
                <a:t>=&gt;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 i="1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todo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000" b="0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id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56B6C2"/>
                  </a:solidFill>
                  <a:effectLst/>
                  <a:latin typeface="Consolas" panose="020B0609020204030204" pitchFamily="49" charset="0"/>
                </a:rPr>
                <a:t>!==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 i="1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id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    );</a:t>
              </a:r>
            </a:p>
            <a:p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 };</a:t>
              </a:r>
            </a:p>
            <a:p>
              <a:endPara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삭제 버튼을 클릭한 특정 항목의 고유 </a:t>
              </a:r>
              <a:r>
                <a:rPr lang="en-US" altLang="ko-KR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ID </a:t>
              </a:r>
              <a:r>
                <a:rPr lang="ko-KR" altLang="en-US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값을 전달받음</a:t>
              </a:r>
              <a:endPara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filter</a:t>
              </a:r>
              <a:r>
                <a:rPr lang="ko-KR" altLang="en-US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로 선택한 </a:t>
              </a:r>
              <a:r>
                <a:rPr lang="en-US" altLang="ko-KR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ID</a:t>
              </a:r>
              <a:r>
                <a:rPr lang="ko-KR" altLang="en-US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와 일치하지 않는 항목만 추출</a:t>
              </a:r>
              <a:endPara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CCD5671-46DD-4434-BCC2-D9542141A605}"/>
                </a:ext>
              </a:extLst>
            </p:cNvPr>
            <p:cNvSpPr txBox="1"/>
            <p:nvPr/>
          </p:nvSpPr>
          <p:spPr>
            <a:xfrm>
              <a:off x="5941572" y="3229939"/>
              <a:ext cx="5262979" cy="12193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0">
                  <a:solidFill>
                    <a:srgbClr val="C678DD"/>
                  </a:solidFill>
                  <a:effectLst/>
                  <a:latin typeface="Consolas" panose="020B0609020204030204" pitchFamily="49" charset="0"/>
                </a:rPr>
                <a:t>const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61AFEF"/>
                  </a:solidFill>
                  <a:effectLst/>
                  <a:latin typeface="Consolas" panose="020B0609020204030204" pitchFamily="49" charset="0"/>
                </a:rPr>
                <a:t>updateTodo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56B6C2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n-US" altLang="ko-KR" sz="1000" b="0" i="1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id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,</a:t>
              </a:r>
              <a:r>
                <a:rPr lang="en-US" altLang="ko-KR" sz="1000" b="0" i="1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newText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n-US" altLang="ko-KR" sz="1000" b="0">
                  <a:solidFill>
                    <a:srgbClr val="C678DD"/>
                  </a:solidFill>
                  <a:effectLst/>
                  <a:latin typeface="Consolas" panose="020B0609020204030204" pitchFamily="49" charset="0"/>
                </a:rPr>
                <a:t>=&gt;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{</a:t>
              </a:r>
            </a:p>
            <a:p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000" b="0">
                  <a:solidFill>
                    <a:srgbClr val="61AFEF"/>
                  </a:solidFill>
                  <a:effectLst/>
                  <a:latin typeface="Consolas" panose="020B0609020204030204" pitchFamily="49" charset="0"/>
                </a:rPr>
                <a:t>setTodos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(</a:t>
              </a:r>
            </a:p>
            <a:p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US" altLang="ko-KR" sz="1000" b="0">
                  <a:solidFill>
                    <a:srgbClr val="E5C07B"/>
                  </a:solidFill>
                  <a:effectLst/>
                  <a:latin typeface="Consolas" panose="020B0609020204030204" pitchFamily="49" charset="0"/>
                </a:rPr>
                <a:t>todos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000" b="0">
                  <a:solidFill>
                    <a:srgbClr val="61AFEF"/>
                  </a:solidFill>
                  <a:effectLst/>
                  <a:latin typeface="Consolas" panose="020B0609020204030204" pitchFamily="49" charset="0"/>
                </a:rPr>
                <a:t>map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altLang="ko-KR" sz="1000" b="0" i="1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todo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C678DD"/>
                  </a:solidFill>
                  <a:effectLst/>
                  <a:latin typeface="Consolas" panose="020B0609020204030204" pitchFamily="49" charset="0"/>
                </a:rPr>
                <a:t>=&gt;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 i="1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todo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altLang="ko-KR" sz="1000" b="0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id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56B6C2"/>
                  </a:solidFill>
                  <a:effectLst/>
                  <a:latin typeface="Consolas" panose="020B0609020204030204" pitchFamily="49" charset="0"/>
                </a:rPr>
                <a:t>===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 i="1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id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>
                  <a:solidFill>
                    <a:srgbClr val="C678DD"/>
                  </a:solidFill>
                  <a:effectLst/>
                  <a:latin typeface="Consolas" panose="020B0609020204030204" pitchFamily="49" charset="0"/>
                </a:rPr>
                <a:t>?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{...</a:t>
              </a:r>
              <a:r>
                <a:rPr lang="en-US" altLang="ko-KR" sz="1000" b="0" i="1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todo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,</a:t>
              </a:r>
              <a:r>
                <a:rPr lang="en-US" altLang="ko-KR" sz="1000" b="0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text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000" b="0" i="1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newText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} </a:t>
              </a:r>
              <a:r>
                <a:rPr lang="en-US" altLang="ko-KR" sz="1000" b="0">
                  <a:solidFill>
                    <a:srgbClr val="C678DD"/>
                  </a:solidFill>
                  <a:effectLst/>
                  <a:latin typeface="Consolas" panose="020B0609020204030204" pitchFamily="49" charset="0"/>
                </a:rPr>
                <a:t>: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ko-KR" sz="1000" b="0" i="1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todo</a:t>
              </a:r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    );</a:t>
              </a:r>
            </a:p>
            <a:p>
              <a:r>
                <a:rPr lang="en-U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};</a:t>
              </a:r>
            </a:p>
            <a:p>
              <a:endPara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일치하는 항목은 새로운 텍스트로 변경하고</a:t>
              </a:r>
              <a:r>
                <a:rPr lang="en-US" altLang="ko-KR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나머지 항목은 그대로 유지하여 갱신</a:t>
              </a:r>
              <a:endPara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FC9221C-4D45-4404-94D0-B7889F9356B9}"/>
                </a:ext>
              </a:extLst>
            </p:cNvPr>
            <p:cNvSpPr txBox="1"/>
            <p:nvPr/>
          </p:nvSpPr>
          <p:spPr>
            <a:xfrm>
              <a:off x="5941571" y="4656560"/>
              <a:ext cx="5686172" cy="13732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altLang="ko-KR" sz="1000" b="0">
                  <a:solidFill>
                    <a:srgbClr val="C678DD"/>
                  </a:solidFill>
                  <a:effectLst/>
                  <a:latin typeface="Consolas" panose="020B0609020204030204" pitchFamily="49" charset="0"/>
                </a:rPr>
                <a:t>const</a:t>
              </a:r>
              <a:r>
                <a:rPr lang="es-E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s-ES" altLang="ko-KR" sz="1000" b="0">
                  <a:solidFill>
                    <a:srgbClr val="61AFEF"/>
                  </a:solidFill>
                  <a:effectLst/>
                  <a:latin typeface="Consolas" panose="020B0609020204030204" pitchFamily="49" charset="0"/>
                </a:rPr>
                <a:t>toggleTodo</a:t>
              </a:r>
              <a:r>
                <a:rPr lang="es-E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s-ES" altLang="ko-KR" sz="1000" b="0">
                  <a:solidFill>
                    <a:srgbClr val="56B6C2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s-E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(</a:t>
              </a:r>
              <a:r>
                <a:rPr lang="es-ES" altLang="ko-KR" sz="1000" b="0" i="1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id</a:t>
              </a:r>
              <a:r>
                <a:rPr lang="es-E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s-ES" altLang="ko-KR" sz="1000" b="0">
                  <a:solidFill>
                    <a:srgbClr val="C678DD"/>
                  </a:solidFill>
                  <a:effectLst/>
                  <a:latin typeface="Consolas" panose="020B0609020204030204" pitchFamily="49" charset="0"/>
                </a:rPr>
                <a:t>=&gt;</a:t>
              </a:r>
              <a:r>
                <a:rPr lang="es-E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{</a:t>
              </a:r>
            </a:p>
            <a:p>
              <a:r>
                <a:rPr lang="es-E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s-ES" altLang="ko-KR" sz="1000" b="0">
                  <a:solidFill>
                    <a:srgbClr val="61AFEF"/>
                  </a:solidFill>
                  <a:effectLst/>
                  <a:latin typeface="Consolas" panose="020B0609020204030204" pitchFamily="49" charset="0"/>
                </a:rPr>
                <a:t>setTodos</a:t>
              </a:r>
              <a:r>
                <a:rPr lang="es-E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(</a:t>
              </a:r>
            </a:p>
            <a:p>
              <a:r>
                <a:rPr lang="es-E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s-ES" altLang="ko-KR" sz="1000" b="0">
                  <a:solidFill>
                    <a:srgbClr val="E5C07B"/>
                  </a:solidFill>
                  <a:effectLst/>
                  <a:latin typeface="Consolas" panose="020B0609020204030204" pitchFamily="49" charset="0"/>
                </a:rPr>
                <a:t>todos</a:t>
              </a:r>
              <a:r>
                <a:rPr lang="es-E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s-ES" altLang="ko-KR" sz="1000" b="0">
                  <a:solidFill>
                    <a:srgbClr val="61AFEF"/>
                  </a:solidFill>
                  <a:effectLst/>
                  <a:latin typeface="Consolas" panose="020B0609020204030204" pitchFamily="49" charset="0"/>
                </a:rPr>
                <a:t>map</a:t>
              </a:r>
              <a:r>
                <a:rPr lang="es-E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s-ES" altLang="ko-KR" sz="1000" b="0" i="1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todo</a:t>
              </a:r>
              <a:r>
                <a:rPr lang="es-E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s-ES" altLang="ko-KR" sz="1000" b="0">
                  <a:solidFill>
                    <a:srgbClr val="C678DD"/>
                  </a:solidFill>
                  <a:effectLst/>
                  <a:latin typeface="Consolas" panose="020B0609020204030204" pitchFamily="49" charset="0"/>
                </a:rPr>
                <a:t>=&gt;</a:t>
              </a:r>
              <a:r>
                <a:rPr lang="es-E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s-ES" altLang="ko-KR" sz="1000" b="0" i="1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todo</a:t>
              </a:r>
              <a:r>
                <a:rPr lang="es-E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s-ES" altLang="ko-KR" sz="1000" b="0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id</a:t>
              </a:r>
              <a:r>
                <a:rPr lang="es-E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s-ES" altLang="ko-KR" sz="1000" b="0">
                  <a:solidFill>
                    <a:srgbClr val="56B6C2"/>
                  </a:solidFill>
                  <a:effectLst/>
                  <a:latin typeface="Consolas" panose="020B0609020204030204" pitchFamily="49" charset="0"/>
                </a:rPr>
                <a:t>===</a:t>
              </a:r>
              <a:r>
                <a:rPr lang="es-E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s-ES" altLang="ko-KR" sz="1000" b="0" i="1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id</a:t>
              </a:r>
              <a:r>
                <a:rPr lang="es-E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s-ES" altLang="ko-KR" sz="1000" b="0">
                  <a:solidFill>
                    <a:srgbClr val="C678DD"/>
                  </a:solidFill>
                  <a:effectLst/>
                  <a:latin typeface="Consolas" panose="020B0609020204030204" pitchFamily="49" charset="0"/>
                </a:rPr>
                <a:t>?</a:t>
              </a:r>
              <a:r>
                <a:rPr lang="es-E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{...</a:t>
              </a:r>
              <a:r>
                <a:rPr lang="es-ES" altLang="ko-KR" sz="1000" b="0" i="1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todo</a:t>
              </a:r>
              <a:r>
                <a:rPr lang="es-E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s-ES" altLang="ko-KR" sz="1000" b="0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completed </a:t>
              </a:r>
              <a:r>
                <a:rPr lang="es-E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s-ES" altLang="ko-KR" sz="1000" b="0">
                  <a:solidFill>
                    <a:srgbClr val="56B6C2"/>
                  </a:solidFill>
                  <a:effectLst/>
                  <a:latin typeface="Consolas" panose="020B0609020204030204" pitchFamily="49" charset="0"/>
                </a:rPr>
                <a:t>!</a:t>
              </a:r>
              <a:r>
                <a:rPr lang="es-ES" altLang="ko-KR" sz="1000" b="0" i="1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todo</a:t>
              </a:r>
              <a:r>
                <a:rPr lang="es-E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s-ES" altLang="ko-KR" sz="1000" b="0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completed</a:t>
              </a:r>
              <a:r>
                <a:rPr lang="es-E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  <a:p>
              <a:r>
                <a:rPr lang="es-ES" altLang="ko-KR" sz="1000">
                  <a:solidFill>
                    <a:srgbClr val="ABB2BF"/>
                  </a:solidFill>
                  <a:latin typeface="Consolas" panose="020B0609020204030204" pitchFamily="49" charset="0"/>
                </a:rPr>
                <a:t>      </a:t>
              </a:r>
              <a:r>
                <a:rPr lang="es-ES" altLang="ko-KR" sz="1000" b="0">
                  <a:solidFill>
                    <a:srgbClr val="C678DD"/>
                  </a:solidFill>
                  <a:effectLst/>
                  <a:latin typeface="Consolas" panose="020B0609020204030204" pitchFamily="49" charset="0"/>
                </a:rPr>
                <a:t>:</a:t>
              </a:r>
              <a:r>
                <a:rPr lang="es-E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s-ES" altLang="ko-KR" sz="1000" b="0" i="1">
                  <a:solidFill>
                    <a:srgbClr val="E06C75"/>
                  </a:solidFill>
                  <a:effectLst/>
                  <a:latin typeface="Consolas" panose="020B0609020204030204" pitchFamily="49" charset="0"/>
                </a:rPr>
                <a:t>todo</a:t>
              </a:r>
              <a:r>
                <a:rPr lang="es-E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r>
                <a:rPr lang="es-E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    )</a:t>
              </a:r>
            </a:p>
            <a:p>
              <a:r>
                <a:rPr lang="es-ES" altLang="ko-KR" sz="1000" b="0">
                  <a:solidFill>
                    <a:srgbClr val="ABB2BF"/>
                  </a:solidFill>
                  <a:effectLst/>
                  <a:latin typeface="Consolas" panose="020B0609020204030204" pitchFamily="49" charset="0"/>
                </a:rPr>
                <a:t>};</a:t>
              </a:r>
            </a:p>
            <a:p>
              <a:endPara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사용자가 체크박스를 누를 때마다 해당 항목의 </a:t>
              </a:r>
              <a:r>
                <a:rPr lang="en-US" altLang="ko-KR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ID</a:t>
              </a:r>
              <a:r>
                <a:rPr lang="ko-KR" altLang="en-US" sz="1000">
                  <a:latin typeface="Noto Sans KR" panose="020B0200000000000000" pitchFamily="50" charset="-127"/>
                  <a:ea typeface="Noto Sans KR" panose="020B0200000000000000" pitchFamily="50" charset="-127"/>
                </a:rPr>
                <a:t>를 기반으로 완료 상태 토글 실행</a:t>
              </a:r>
              <a:endPara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1796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550CDE-F68E-4CA4-8154-92D6AFC88086}"/>
              </a:ext>
            </a:extLst>
          </p:cNvPr>
          <p:cNvSpPr/>
          <p:nvPr/>
        </p:nvSpPr>
        <p:spPr>
          <a:xfrm>
            <a:off x="554105" y="2326963"/>
            <a:ext cx="5170420" cy="2853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3237299-73D9-45B1-87C7-843D4289358D}"/>
              </a:ext>
            </a:extLst>
          </p:cNvPr>
          <p:cNvSpPr/>
          <p:nvPr/>
        </p:nvSpPr>
        <p:spPr>
          <a:xfrm>
            <a:off x="554105" y="1344449"/>
            <a:ext cx="517041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8707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10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코드</a:t>
            </a:r>
            <a:endParaRPr lang="ko-KR" altLang="en-US" sz="2800" b="1" spc="100" dirty="0">
              <a:solidFill>
                <a:srgbClr val="224D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5C43583-3527-4663-A326-87AD5B87B248}"/>
              </a:ext>
            </a:extLst>
          </p:cNvPr>
          <p:cNvSpPr txBox="1"/>
          <p:nvPr/>
        </p:nvSpPr>
        <p:spPr>
          <a:xfrm>
            <a:off x="144378" y="272716"/>
            <a:ext cx="8194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Page 6</a:t>
            </a:r>
            <a:endParaRPr lang="ko-KR" altLang="en-US" sz="1600" dirty="0">
              <a:solidFill>
                <a:srgbClr val="224D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84B2A8-0C09-468D-92E9-E9B97B46E5D9}"/>
              </a:ext>
            </a:extLst>
          </p:cNvPr>
          <p:cNvSpPr txBox="1"/>
          <p:nvPr/>
        </p:nvSpPr>
        <p:spPr>
          <a:xfrm>
            <a:off x="397867" y="977717"/>
            <a:ext cx="15584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&gt;&gt; TodoForm.js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D7CBDD-705B-41B0-80FD-52B4D6AF41FB}"/>
              </a:ext>
            </a:extLst>
          </p:cNvPr>
          <p:cNvSpPr txBox="1"/>
          <p:nvPr/>
        </p:nvSpPr>
        <p:spPr>
          <a:xfrm>
            <a:off x="554105" y="1422024"/>
            <a:ext cx="3435556" cy="6807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{</a:t>
            </a:r>
            <a:r>
              <a:rPr lang="en-US" altLang="ko-KR" sz="10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리액트에서 컴포넌트의 상태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데이터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를 관리하기 위해 사용</a:t>
            </a:r>
            <a:endParaRPr lang="en-US" altLang="ko-KR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95B505-CB66-4905-B565-EFB1F37EEF76}"/>
              </a:ext>
            </a:extLst>
          </p:cNvPr>
          <p:cNvSpPr txBox="1"/>
          <p:nvPr/>
        </p:nvSpPr>
        <p:spPr>
          <a:xfrm>
            <a:off x="554105" y="2298523"/>
            <a:ext cx="5604419" cy="42201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TodoForm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altLang="ko-KR" sz="1000" b="0" i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addTodo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}){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altLang="ko-KR" sz="1000" b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000" b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setInput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000" b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handleSubmit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000" b="0" i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i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preventDefault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ko-KR" sz="1000" b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trim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addTodo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setInput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&lt;</a:t>
            </a:r>
            <a:r>
              <a:rPr lang="en-US" altLang="ko-KR" sz="10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onSubmit</a:t>
            </a:r>
            <a:r>
              <a:rPr lang="en-US" altLang="ko-KR" sz="1000" b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handleSubmit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&lt;</a:t>
            </a:r>
            <a:r>
              <a:rPr lang="en-US" altLang="ko-KR" sz="10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000" b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en-US" altLang="ko-KR" sz="1000" b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sz="1000" b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할 일을 입력하세요</a:t>
            </a:r>
            <a:r>
              <a:rPr lang="en-US" altLang="ko-KR" sz="1000" b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ko-KR" altLang="en-US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ko-KR" sz="1000" b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000" i="1">
                <a:solidFill>
                  <a:srgbClr val="ABB2BF"/>
                </a:solidFill>
                <a:latin typeface="Consolas" panose="020B0609020204030204" pitchFamily="49" charset="0"/>
              </a:rPr>
              <a:t>             </a:t>
            </a:r>
            <a:r>
              <a:rPr lang="en-US" altLang="ko-KR" sz="1000" b="0" i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000" b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US" altLang="ko-KR" sz="1000" b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setInput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/&gt;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&lt;</a:t>
            </a:r>
            <a:r>
              <a:rPr lang="en-US" altLang="ko-KR" sz="10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1000" b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'submit'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ko-KR" altLang="en-US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추가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0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&lt;/</a:t>
            </a:r>
            <a:r>
              <a:rPr lang="en-US" altLang="ko-KR" sz="10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</a:pPr>
            <a:endParaRPr lang="en-US" altLang="ko-KR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사용자가 입력창에  쓰면 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input</a:t>
            </a: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이라는 변수에 넣음</a:t>
            </a:r>
            <a:endParaRPr lang="en-US" altLang="ko-KR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handleSubmit:</a:t>
            </a: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 사용자가 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추가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' </a:t>
            </a: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버튼을 누르거나 엔터를 치면 실행</a:t>
            </a:r>
            <a:endParaRPr lang="en-US" altLang="ko-KR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if(!input.trim( )) return: </a:t>
            </a: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비어있는 공백 상태이면 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return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글자가 입력되면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부모 컴포넌트에게 받은 함수인 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addTodo(input)</a:t>
            </a: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를 실행해 새 할 일을 목록에 추가</a:t>
            </a:r>
            <a:endParaRPr lang="en-US" altLang="ko-KR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setInput(</a:t>
            </a:r>
            <a:r>
              <a:rPr lang="en-US" altLang="ko-KR" sz="1000" b="0">
                <a:effectLst/>
                <a:latin typeface="Consolas" panose="020B0609020204030204" pitchFamily="49" charset="0"/>
              </a:rPr>
              <a:t>''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): </a:t>
            </a: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다음 입력을 위해 입력창을 비움</a:t>
            </a:r>
            <a:endParaRPr lang="en-US" altLang="ko-KR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1C38AE-3F9D-46CF-8B9A-B72E2A66682F}"/>
              </a:ext>
            </a:extLst>
          </p:cNvPr>
          <p:cNvSpPr txBox="1"/>
          <p:nvPr/>
        </p:nvSpPr>
        <p:spPr>
          <a:xfrm>
            <a:off x="6155424" y="977717"/>
            <a:ext cx="1410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&gt;&gt; TodoList.js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28235C6-F04A-48B2-A926-16B3E3F20DED}"/>
              </a:ext>
            </a:extLst>
          </p:cNvPr>
          <p:cNvSpPr/>
          <p:nvPr/>
        </p:nvSpPr>
        <p:spPr>
          <a:xfrm>
            <a:off x="6155423" y="1344449"/>
            <a:ext cx="4141102" cy="31608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4EB05B-3E92-4F89-987A-BF77DA083326}"/>
              </a:ext>
            </a:extLst>
          </p:cNvPr>
          <p:cNvSpPr txBox="1"/>
          <p:nvPr/>
        </p:nvSpPr>
        <p:spPr>
          <a:xfrm>
            <a:off x="6155424" y="1422024"/>
            <a:ext cx="4902304" cy="3758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todos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deleteTodo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updateTodo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i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toggleTodo</a:t>
            </a:r>
            <a:endParaRPr lang="en-US" altLang="ko-KR" sz="1000" b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}){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&lt;</a:t>
            </a:r>
            <a:r>
              <a:rPr lang="en-US" altLang="ko-KR" sz="10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1000" b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000" b="0" i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todos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i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todo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        &lt;</a:t>
            </a:r>
            <a:r>
              <a:rPr lang="en-US" altLang="ko-KR" sz="1000" b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TodoItem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altLang="ko-KR" sz="1000" b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i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todo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i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todo</a:t>
            </a:r>
            <a:r>
              <a:rPr lang="en-US" altLang="ko-KR" sz="1000" b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i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todo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1000">
              <a:solidFill>
                <a:srgbClr val="ABB2BF"/>
              </a:solidFill>
              <a:latin typeface="Consolas" panose="020B0609020204030204" pitchFamily="49" charset="0"/>
            </a:endParaRPr>
          </a:p>
          <a:p>
            <a:r>
              <a:rPr lang="en-US" altLang="ko-KR" sz="1000" b="0" i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                    </a:t>
            </a:r>
            <a:r>
              <a:rPr lang="en-US" altLang="ko-KR" sz="1000" b="0" i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deleteTodo</a:t>
            </a:r>
            <a:r>
              <a:rPr lang="en-US" altLang="ko-KR" sz="1000" b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i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deleteTodo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ko-KR" sz="1000" b="0" i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                     updateTodo</a:t>
            </a:r>
            <a:r>
              <a:rPr lang="en-US" altLang="ko-KR" sz="1000" b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i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updateTodo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1000">
              <a:solidFill>
                <a:srgbClr val="ABB2BF"/>
              </a:solidFill>
              <a:latin typeface="Consolas" panose="020B0609020204030204" pitchFamily="49" charset="0"/>
            </a:endParaRPr>
          </a:p>
          <a:p>
            <a:r>
              <a:rPr lang="en-US" altLang="ko-KR" sz="1000" b="0" i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                    </a:t>
            </a:r>
            <a:r>
              <a:rPr lang="en-US" altLang="ko-KR" sz="1000" b="0" i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toggleTodo</a:t>
            </a:r>
            <a:r>
              <a:rPr lang="en-US" altLang="ko-KR" sz="1000" b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i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toggleTodo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/&gt;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    ))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000" b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1000" b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&lt;/</a:t>
            </a:r>
            <a:r>
              <a:rPr lang="en-US" altLang="ko-KR" sz="1000" b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r>
              <a:rPr lang="en-US" altLang="ko-KR" sz="1000" b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altLang="ko-KR" sz="1000">
              <a:solidFill>
                <a:srgbClr val="ABB2BF"/>
              </a:solidFill>
              <a:latin typeface="Consolas" panose="020B0609020204030204" pitchFamily="49" charset="0"/>
            </a:endParaRPr>
          </a:p>
          <a:p>
            <a:endParaRPr lang="en-US" altLang="ko-KR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목록 데이터와 조작 함수들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(todos,deleteTodo,updateTodo,toggleTodo)</a:t>
            </a: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을 받아옴</a:t>
            </a:r>
            <a:endParaRPr lang="en-US" altLang="ko-KR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고유한 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key </a:t>
            </a: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값을 주고</a:t>
            </a:r>
            <a:r>
              <a:rPr lang="en-US" altLang="ko-KR" sz="100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>
                <a:latin typeface="Noto Sans KR" panose="020B0200000000000000" pitchFamily="50" charset="-127"/>
                <a:ea typeface="Noto Sans KR" panose="020B0200000000000000" pitchFamily="50" charset="-127"/>
              </a:rPr>
              <a:t>가져온 개별 컴포넌트에 데이터와 함수를 전달함</a:t>
            </a:r>
            <a:endParaRPr lang="en-US" altLang="ko-KR" sz="1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1851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8707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10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코드</a:t>
            </a:r>
            <a:endParaRPr lang="ko-KR" altLang="en-US" sz="2800" b="1" spc="100" dirty="0">
              <a:solidFill>
                <a:srgbClr val="224D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5C43583-3527-4663-A326-87AD5B87B248}"/>
              </a:ext>
            </a:extLst>
          </p:cNvPr>
          <p:cNvSpPr txBox="1"/>
          <p:nvPr/>
        </p:nvSpPr>
        <p:spPr>
          <a:xfrm>
            <a:off x="144378" y="272716"/>
            <a:ext cx="8194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Page 7</a:t>
            </a:r>
            <a:endParaRPr lang="ko-KR" altLang="en-US" sz="1600" dirty="0">
              <a:solidFill>
                <a:srgbClr val="224D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84B2A8-0C09-468D-92E9-E9B97B46E5D9}"/>
              </a:ext>
            </a:extLst>
          </p:cNvPr>
          <p:cNvSpPr txBox="1"/>
          <p:nvPr/>
        </p:nvSpPr>
        <p:spPr>
          <a:xfrm>
            <a:off x="397867" y="977717"/>
            <a:ext cx="1500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&gt;&gt; TodoItem.js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E11FF7-1AAF-4E95-BC26-34DC85F7EA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8"/>
          <a:stretch/>
        </p:blipFill>
        <p:spPr>
          <a:xfrm>
            <a:off x="754271" y="1467275"/>
            <a:ext cx="5047813" cy="4450231"/>
          </a:xfrm>
          <a:prstGeom prst="rect">
            <a:avLst/>
          </a:prstGeom>
          <a:ln w="76200">
            <a:solidFill>
              <a:schemeClr val="accent3">
                <a:lumMod val="20000"/>
                <a:lumOff val="8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084D6E-3907-44EE-A9CD-5335D6C50B3F}"/>
              </a:ext>
            </a:extLst>
          </p:cNvPr>
          <p:cNvSpPr txBox="1"/>
          <p:nvPr/>
        </p:nvSpPr>
        <p:spPr>
          <a:xfrm>
            <a:off x="6254809" y="977717"/>
            <a:ext cx="5539324" cy="5207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할 일 데이터와 함수들을 받아옴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현재 수정 중인 상태인지 확인하는 변수와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수정할 때 입력창에 쓰이는 글자를 담는 변수를 만들어 줌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수정을 완료하고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＇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저장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＇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할 때 실행되는 함수 정의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아이디와 새 글자를 보내 진짜 목록 데이터를 수정함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저장이 끝나면 수정 모드를 종료하고 일반 보기 모드로 변경함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체크박스 클릭 시 완료 상태를 토글함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수정 중이면 입력창을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평소에는 일반 텍스트를 보여줌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수정창에 글을 쓸 때마다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editText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변수를 업데이트함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완료된 할 일이면 글자에 취소선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가로줄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을 그음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할 일의 실제 글자 내용을 화면에 표시함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수정 중일 때는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저장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'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버튼을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평소에는 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수정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'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버튼을 보여줌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 '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수정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'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버튼을 누르면 수정 모드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(isEditing = true)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로 전환함</a:t>
            </a:r>
            <a:endParaRPr lang="en-US" altLang="ko-KR" sz="12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'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삭제</a:t>
            </a:r>
            <a:r>
              <a:rPr lang="en-US" altLang="ko-KR" sz="1200">
                <a:latin typeface="Noto Sans KR" panose="020B0200000000000000" pitchFamily="50" charset="-127"/>
                <a:ea typeface="Noto Sans KR" panose="020B0200000000000000" pitchFamily="50" charset="-127"/>
              </a:rPr>
              <a:t>' </a:t>
            </a:r>
            <a:r>
              <a: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rPr>
              <a:t>버튼을 누르면 해당 할 일을 목록에서 삭제함</a:t>
            </a:r>
          </a:p>
        </p:txBody>
      </p:sp>
    </p:spTree>
    <p:extLst>
      <p:ext uri="{BB962C8B-B14F-4D97-AF65-F5344CB8AC3E}">
        <p14:creationId xmlns:p14="http://schemas.microsoft.com/office/powerpoint/2010/main" val="2587100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6514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10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 화면</a:t>
            </a:r>
            <a:endParaRPr lang="ko-KR" altLang="en-US" sz="2800" b="1" spc="100" dirty="0">
              <a:solidFill>
                <a:srgbClr val="224D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254DFCD-6BFA-802A-68C5-CE8AE1818DA3}"/>
              </a:ext>
            </a:extLst>
          </p:cNvPr>
          <p:cNvSpPr txBox="1"/>
          <p:nvPr/>
        </p:nvSpPr>
        <p:spPr>
          <a:xfrm>
            <a:off x="6003638" y="2672718"/>
            <a:ext cx="184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ko-KR" altLang="en-US" sz="7200" b="1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C43583-3527-4663-A326-87AD5B87B248}"/>
              </a:ext>
            </a:extLst>
          </p:cNvPr>
          <p:cNvSpPr txBox="1"/>
          <p:nvPr/>
        </p:nvSpPr>
        <p:spPr>
          <a:xfrm>
            <a:off x="144378" y="272716"/>
            <a:ext cx="8194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Page 8</a:t>
            </a:r>
            <a:endParaRPr lang="ko-KR" altLang="en-US" sz="1600" dirty="0">
              <a:solidFill>
                <a:srgbClr val="224D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439C81D-514F-4E0D-A073-C6D925438392}"/>
              </a:ext>
            </a:extLst>
          </p:cNvPr>
          <p:cNvSpPr/>
          <p:nvPr/>
        </p:nvSpPr>
        <p:spPr>
          <a:xfrm>
            <a:off x="4205285" y="2047014"/>
            <a:ext cx="3213655" cy="604280"/>
          </a:xfrm>
          <a:prstGeom prst="rect">
            <a:avLst/>
          </a:prstGeom>
          <a:solidFill>
            <a:srgbClr val="224D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99BF530-A5C9-4D0A-B119-D7269DCD7B77}"/>
              </a:ext>
            </a:extLst>
          </p:cNvPr>
          <p:cNvSpPr/>
          <p:nvPr/>
        </p:nvSpPr>
        <p:spPr>
          <a:xfrm>
            <a:off x="4205285" y="2651295"/>
            <a:ext cx="3213655" cy="17331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A8CD9CA-3A68-4780-9F3B-D2FBA35557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0" t="5136" r="3360" b="14211"/>
          <a:stretch/>
        </p:blipFill>
        <p:spPr>
          <a:xfrm>
            <a:off x="4205285" y="2651294"/>
            <a:ext cx="3213655" cy="1529418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3ACCF6BA-914B-4688-8DC9-A92B10CDADC0}"/>
              </a:ext>
            </a:extLst>
          </p:cNvPr>
          <p:cNvSpPr/>
          <p:nvPr/>
        </p:nvSpPr>
        <p:spPr>
          <a:xfrm>
            <a:off x="7856464" y="2651295"/>
            <a:ext cx="3213655" cy="17331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1F44EAF-F111-4E46-90E8-AD5A6FBE88A1}"/>
              </a:ext>
            </a:extLst>
          </p:cNvPr>
          <p:cNvSpPr/>
          <p:nvPr/>
        </p:nvSpPr>
        <p:spPr>
          <a:xfrm>
            <a:off x="7856464" y="2047014"/>
            <a:ext cx="3213655" cy="604280"/>
          </a:xfrm>
          <a:prstGeom prst="rect">
            <a:avLst/>
          </a:prstGeom>
          <a:solidFill>
            <a:srgbClr val="224D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39A0C78-543F-447E-A4BC-36EA4E0C78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4" t="5162" r="5461" b="15680"/>
          <a:stretch/>
        </p:blipFill>
        <p:spPr>
          <a:xfrm>
            <a:off x="7856464" y="2651294"/>
            <a:ext cx="3182514" cy="1535647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3F32D428-AA8C-4EFD-B67C-CDBDF8A137D5}"/>
              </a:ext>
            </a:extLst>
          </p:cNvPr>
          <p:cNvSpPr/>
          <p:nvPr/>
        </p:nvSpPr>
        <p:spPr>
          <a:xfrm>
            <a:off x="554105" y="2047014"/>
            <a:ext cx="3213655" cy="604280"/>
          </a:xfrm>
          <a:prstGeom prst="rect">
            <a:avLst/>
          </a:prstGeom>
          <a:solidFill>
            <a:srgbClr val="224D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6B7E2AF-30F0-4343-B08D-60C0149D4757}"/>
              </a:ext>
            </a:extLst>
          </p:cNvPr>
          <p:cNvSpPr/>
          <p:nvPr/>
        </p:nvSpPr>
        <p:spPr>
          <a:xfrm>
            <a:off x="554105" y="2651295"/>
            <a:ext cx="3213655" cy="17331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85F0C52-C5AB-446D-A83E-932E35D393C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5" t="5620" r="5589" b="19255"/>
          <a:stretch/>
        </p:blipFill>
        <p:spPr>
          <a:xfrm>
            <a:off x="554105" y="2643602"/>
            <a:ext cx="3213655" cy="152946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06C7670-25EC-4E93-A8E3-C2670FF733DF}"/>
              </a:ext>
            </a:extLst>
          </p:cNvPr>
          <p:cNvSpPr txBox="1"/>
          <p:nvPr/>
        </p:nvSpPr>
        <p:spPr>
          <a:xfrm>
            <a:off x="1718341" y="2195266"/>
            <a:ext cx="885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>
                <a:solidFill>
                  <a:schemeClr val="bg1">
                    <a:lumMod val="9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추가 화면</a:t>
            </a:r>
            <a:endParaRPr lang="ko-KR" altLang="en-US" sz="1400" b="1" dirty="0">
              <a:solidFill>
                <a:schemeClr val="bg1">
                  <a:lumMod val="9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69D342-71C4-4AD3-9A42-EB1AFF7DFFD7}"/>
              </a:ext>
            </a:extLst>
          </p:cNvPr>
          <p:cNvSpPr txBox="1"/>
          <p:nvPr/>
        </p:nvSpPr>
        <p:spPr>
          <a:xfrm>
            <a:off x="5369523" y="2195266"/>
            <a:ext cx="885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>
                <a:solidFill>
                  <a:schemeClr val="bg1">
                    <a:lumMod val="9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수정 화면</a:t>
            </a:r>
            <a:endParaRPr lang="ko-KR" altLang="en-US" sz="1400" b="1" dirty="0">
              <a:solidFill>
                <a:schemeClr val="bg1">
                  <a:lumMod val="9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02230E-00CB-4DC5-B150-EDE9A81CF9E6}"/>
              </a:ext>
            </a:extLst>
          </p:cNvPr>
          <p:cNvSpPr txBox="1"/>
          <p:nvPr/>
        </p:nvSpPr>
        <p:spPr>
          <a:xfrm>
            <a:off x="9020702" y="2195266"/>
            <a:ext cx="885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>
                <a:solidFill>
                  <a:schemeClr val="bg1">
                    <a:lumMod val="9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삭제 화면</a:t>
            </a:r>
            <a:endParaRPr lang="ko-KR" altLang="en-US" sz="1400" b="1" dirty="0">
              <a:solidFill>
                <a:schemeClr val="bg1">
                  <a:lumMod val="9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FDB51A4-74E8-4BBC-9354-DA47BB550428}"/>
              </a:ext>
            </a:extLst>
          </p:cNvPr>
          <p:cNvGrpSpPr/>
          <p:nvPr/>
        </p:nvGrpSpPr>
        <p:grpSpPr>
          <a:xfrm>
            <a:off x="672374" y="5037458"/>
            <a:ext cx="2977111" cy="624439"/>
            <a:chOff x="1592505" y="4746010"/>
            <a:chExt cx="2977111" cy="62443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0DF462B-AD30-4621-9ACA-2A8D8E9F288D}"/>
                </a:ext>
              </a:extLst>
            </p:cNvPr>
            <p:cNvSpPr txBox="1"/>
            <p:nvPr/>
          </p:nvSpPr>
          <p:spPr>
            <a:xfrm>
              <a:off x="1592505" y="4746010"/>
              <a:ext cx="11368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>
                  <a:solidFill>
                    <a:srgbClr val="224D6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&gt;&gt; </a:t>
              </a:r>
              <a:r>
                <a:rPr lang="ko-KR" altLang="en-US" sz="1400" b="1">
                  <a:solidFill>
                    <a:srgbClr val="224D6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배포 주소</a:t>
              </a:r>
              <a:endParaRPr lang="en-US" altLang="ko-KR" sz="1400" b="1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29BDF19-3CEB-4B58-A293-689290090397}"/>
                </a:ext>
              </a:extLst>
            </p:cNvPr>
            <p:cNvSpPr txBox="1"/>
            <p:nvPr/>
          </p:nvSpPr>
          <p:spPr>
            <a:xfrm>
              <a:off x="1863426" y="5033626"/>
              <a:ext cx="2706190" cy="3368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>
                  <a:latin typeface="Noto Sans KR" panose="020B0200000000000000" pitchFamily="50" charset="-127"/>
                  <a:ea typeface="Noto Sans KR" panose="020B0200000000000000" pitchFamily="50" charset="-127"/>
                </a:rPr>
                <a:t>https://ain3456.github.io/todo-list/</a:t>
              </a:r>
              <a:endParaRPr lang="ko-KR" altLang="en-US" sz="120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3556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6514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10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구현 결과</a:t>
            </a:r>
            <a:endParaRPr lang="ko-KR" altLang="en-US" sz="2800" b="1" spc="100" dirty="0">
              <a:solidFill>
                <a:srgbClr val="224D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254DFCD-6BFA-802A-68C5-CE8AE1818DA3}"/>
              </a:ext>
            </a:extLst>
          </p:cNvPr>
          <p:cNvSpPr txBox="1"/>
          <p:nvPr/>
        </p:nvSpPr>
        <p:spPr>
          <a:xfrm>
            <a:off x="6003638" y="2672718"/>
            <a:ext cx="184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ko-KR" altLang="en-US" sz="7200" b="1" dirty="0">
              <a:solidFill>
                <a:schemeClr val="accent1"/>
              </a:solidFill>
            </a:endParaRPr>
          </a:p>
        </p:txBody>
      </p:sp>
      <p:sp>
        <p:nvSpPr>
          <p:cNvPr id="11" name="양쪽 대괄호 10">
            <a:extLst>
              <a:ext uri="{FF2B5EF4-FFF2-40B4-BE49-F238E27FC236}">
                <a16:creationId xmlns:a16="http://schemas.microsoft.com/office/drawing/2014/main" id="{BB84A156-89D3-24C7-611D-EAAE09E85E87}"/>
              </a:ext>
            </a:extLst>
          </p:cNvPr>
          <p:cNvSpPr/>
          <p:nvPr/>
        </p:nvSpPr>
        <p:spPr>
          <a:xfrm>
            <a:off x="1163052" y="2129883"/>
            <a:ext cx="9881937" cy="3077737"/>
          </a:xfrm>
          <a:prstGeom prst="bracketPair">
            <a:avLst>
              <a:gd name="adj" fmla="val 12319"/>
            </a:avLst>
          </a:prstGeom>
          <a:ln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C43583-3527-4663-A326-87AD5B87B248}"/>
              </a:ext>
            </a:extLst>
          </p:cNvPr>
          <p:cNvSpPr txBox="1"/>
          <p:nvPr/>
        </p:nvSpPr>
        <p:spPr>
          <a:xfrm>
            <a:off x="144378" y="272716"/>
            <a:ext cx="8194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Page 9</a:t>
            </a:r>
            <a:endParaRPr lang="ko-KR" altLang="en-US" sz="1600" dirty="0">
              <a:solidFill>
                <a:srgbClr val="224D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6FC2487-68CB-4204-93C7-90E3B9E546AC}"/>
              </a:ext>
            </a:extLst>
          </p:cNvPr>
          <p:cNvGrpSpPr/>
          <p:nvPr/>
        </p:nvGrpSpPr>
        <p:grpSpPr>
          <a:xfrm>
            <a:off x="2635290" y="3119859"/>
            <a:ext cx="6937460" cy="1097785"/>
            <a:chOff x="2627270" y="2890134"/>
            <a:chExt cx="6937460" cy="109778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8501EAC-39D2-CA09-720C-EDF7F167A7D4}"/>
                </a:ext>
              </a:extLst>
            </p:cNvPr>
            <p:cNvSpPr txBox="1"/>
            <p:nvPr/>
          </p:nvSpPr>
          <p:spPr>
            <a:xfrm>
              <a:off x="2627270" y="2910188"/>
              <a:ext cx="3085694" cy="10777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5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CRUD </a:t>
              </a: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기능 정상 동작 확인</a:t>
              </a:r>
            </a:p>
            <a:p>
              <a:pPr marL="285750" indent="-285750">
                <a:lnSpc>
                  <a:spcPct val="25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LocalStorage </a:t>
              </a: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저장 기능 정상 작동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69959D4-130A-42A9-A175-D1F6DD63EEDB}"/>
                </a:ext>
              </a:extLst>
            </p:cNvPr>
            <p:cNvSpPr txBox="1"/>
            <p:nvPr/>
          </p:nvSpPr>
          <p:spPr>
            <a:xfrm>
              <a:off x="6479036" y="2890134"/>
              <a:ext cx="3085694" cy="10777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2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새로고침 후 데이터 유지 확인</a:t>
              </a:r>
            </a:p>
            <a:p>
              <a:pPr marL="285750" indent="-285750">
                <a:lnSpc>
                  <a:spcPct val="25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React Hooks </a:t>
              </a:r>
              <a:r>
                <a:rPr lang="ko-KR" altLang="en-US" sz="1400">
                  <a:latin typeface="Noto Sans KR" panose="020B0200000000000000" pitchFamily="50" charset="-127"/>
                  <a:ea typeface="Noto Sans KR" panose="020B0200000000000000" pitchFamily="50" charset="-127"/>
                </a:rPr>
                <a:t>활용 능력 향상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6375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8707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10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결론</a:t>
            </a:r>
            <a:endParaRPr lang="ko-KR" altLang="en-US" sz="2800" b="1" spc="100" dirty="0">
              <a:solidFill>
                <a:srgbClr val="224D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254DFCD-6BFA-802A-68C5-CE8AE1818DA3}"/>
              </a:ext>
            </a:extLst>
          </p:cNvPr>
          <p:cNvSpPr txBox="1"/>
          <p:nvPr/>
        </p:nvSpPr>
        <p:spPr>
          <a:xfrm>
            <a:off x="6003638" y="2672718"/>
            <a:ext cx="184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ko-KR" altLang="en-US" sz="7200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501EAC-39D2-CA09-720C-EDF7F167A7D4}"/>
              </a:ext>
            </a:extLst>
          </p:cNvPr>
          <p:cNvSpPr txBox="1"/>
          <p:nvPr/>
        </p:nvSpPr>
        <p:spPr>
          <a:xfrm>
            <a:off x="1914740" y="3008699"/>
            <a:ext cx="8378560" cy="1320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이번 프로젝트를 통해 </a:t>
            </a:r>
            <a:r>
              <a:rPr lang="en-US" altLang="ko-KR" sz="1400">
                <a:latin typeface="Noto Sans KR" panose="020B0200000000000000" pitchFamily="50" charset="-127"/>
                <a:ea typeface="Noto Sans KR" panose="020B0200000000000000" pitchFamily="50" charset="-127"/>
              </a:rPr>
              <a:t>React</a:t>
            </a:r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의 기본 구조를 이해하고 상태 관리 방식을 알 수 있었다</a:t>
            </a:r>
            <a:r>
              <a:rPr lang="en-US" altLang="ko-KR" sz="1400"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브라우저가 닫혀도 데이터가 유지되는 </a:t>
            </a:r>
            <a:r>
              <a:rPr lang="en-US" altLang="ko-KR" sz="1400">
                <a:latin typeface="Noto Sans KR" panose="020B0200000000000000" pitchFamily="50" charset="-127"/>
                <a:ea typeface="Noto Sans KR" panose="020B0200000000000000" pitchFamily="50" charset="-127"/>
              </a:rPr>
              <a:t>LocalStorage </a:t>
            </a:r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기능과 </a:t>
            </a:r>
            <a:r>
              <a:rPr lang="en-US" altLang="ko-KR" sz="1400">
                <a:latin typeface="Noto Sans KR" panose="020B0200000000000000" pitchFamily="50" charset="-127"/>
                <a:ea typeface="Noto Sans KR" panose="020B0200000000000000" pitchFamily="50" charset="-127"/>
              </a:rPr>
              <a:t>CRUD </a:t>
            </a:r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패턴을 만드는 과정을 경험할 수 있었다</a:t>
            </a:r>
            <a:r>
              <a:rPr lang="en-US" altLang="ko-KR" sz="1400"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나아가 다양한 </a:t>
            </a:r>
            <a:r>
              <a:rPr lang="en-US" altLang="ko-KR" sz="1400">
                <a:latin typeface="Noto Sans KR" panose="020B0200000000000000" pitchFamily="50" charset="-127"/>
                <a:ea typeface="Noto Sans KR" panose="020B0200000000000000" pitchFamily="50" charset="-127"/>
              </a:rPr>
              <a:t>Hooks</a:t>
            </a:r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을 적용해 보며 </a:t>
            </a:r>
            <a:r>
              <a:rPr lang="en-US" altLang="ko-KR" sz="1400">
                <a:latin typeface="Noto Sans KR" panose="020B0200000000000000" pitchFamily="50" charset="-127"/>
                <a:ea typeface="Noto Sans KR" panose="020B0200000000000000" pitchFamily="50" charset="-127"/>
              </a:rPr>
              <a:t>UI</a:t>
            </a:r>
            <a:r>
              <a:rPr lang="ko-KR" altLang="en-US" sz="1400">
                <a:latin typeface="Noto Sans KR" panose="020B0200000000000000" pitchFamily="50" charset="-127"/>
                <a:ea typeface="Noto Sans KR" panose="020B0200000000000000" pitchFamily="50" charset="-127"/>
              </a:rPr>
              <a:t>를 안정적으로 구현하는 방법을 익힐 수 있었다</a:t>
            </a:r>
            <a:r>
              <a:rPr lang="en-US" altLang="ko-KR" sz="140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4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양쪽 대괄호 10">
            <a:extLst>
              <a:ext uri="{FF2B5EF4-FFF2-40B4-BE49-F238E27FC236}">
                <a16:creationId xmlns:a16="http://schemas.microsoft.com/office/drawing/2014/main" id="{BB84A156-89D3-24C7-611D-EAAE09E85E87}"/>
              </a:ext>
            </a:extLst>
          </p:cNvPr>
          <p:cNvSpPr/>
          <p:nvPr/>
        </p:nvSpPr>
        <p:spPr>
          <a:xfrm>
            <a:off x="1163052" y="2129883"/>
            <a:ext cx="9881937" cy="3077737"/>
          </a:xfrm>
          <a:prstGeom prst="bracketPair">
            <a:avLst>
              <a:gd name="adj" fmla="val 12319"/>
            </a:avLst>
          </a:prstGeom>
          <a:ln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C43583-3527-4663-A326-87AD5B87B248}"/>
              </a:ext>
            </a:extLst>
          </p:cNvPr>
          <p:cNvSpPr txBox="1"/>
          <p:nvPr/>
        </p:nvSpPr>
        <p:spPr>
          <a:xfrm>
            <a:off x="144378" y="272716"/>
            <a:ext cx="9332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224D6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Page 10</a:t>
            </a:r>
            <a:endParaRPr lang="ko-KR" altLang="en-US" sz="1600" dirty="0">
              <a:solidFill>
                <a:srgbClr val="224D6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2373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1352</Words>
  <Application>Microsoft Office PowerPoint</Application>
  <PresentationFormat>와이드스크린</PresentationFormat>
  <Paragraphs>197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Noto Sans KR</vt:lpstr>
      <vt:lpstr>맑은 고딕</vt:lpstr>
      <vt:lpstr>Arial</vt:lpstr>
      <vt:lpstr>Consolas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애플리케이션배포 평가</dc:title>
  <dc:creator>Administrator</dc:creator>
  <cp:lastModifiedBy>Administrator</cp:lastModifiedBy>
  <cp:revision>39</cp:revision>
  <dcterms:created xsi:type="dcterms:W3CDTF">2026-05-26T04:23:08Z</dcterms:created>
  <dcterms:modified xsi:type="dcterms:W3CDTF">2026-05-28T06:01:05Z</dcterms:modified>
</cp:coreProperties>
</file>