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  <p:sldId id="267" r:id="rId10"/>
    <p:sldId id="264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6" autoAdjust="0"/>
    <p:restoredTop sz="94660"/>
  </p:normalViewPr>
  <p:slideViewPr>
    <p:cSldViewPr snapToGrid="0">
      <p:cViewPr varScale="1">
        <p:scale>
          <a:sx n="90" d="100"/>
          <a:sy n="90" d="100"/>
        </p:scale>
        <p:origin x="10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5703B9-566F-4787-90BA-1F4B2C840A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C6111AD-DE6B-4A06-B1B3-412EE1B10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8A5A94-92A6-4722-BBC5-FE4B00D1C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DB305-CDDE-4466-9C86-7BED34DE732E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76311A-56CA-4BCC-83F8-75692CEA7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B06CE0-2307-4B52-847D-7457DD397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499E4-C724-4390-B063-6D8954951B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63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FB7256-C2B1-4379-BFBB-7E8BE1147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73B6AB-3017-4CF2-9978-53E92A91A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559AC5-BBF9-4A95-B2F6-511AAD1B9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DB305-CDDE-4466-9C86-7BED34DE732E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207146-92FD-485B-B49D-AEBC878CA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7AD0A2-E501-4BD8-A18E-247E59CD7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499E4-C724-4390-B063-6D8954951B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4339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F925B8-6618-473A-B585-35EFAC02B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5175CD-F761-4CE4-98FC-C86A363A8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65CF1B-6D30-4C39-BC90-977E4D0BA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DB305-CDDE-4466-9C86-7BED34DE732E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A18BFD-7AB3-4895-B693-BF082AB11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71A0EC-99D4-4566-AE1E-1EF911472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499E4-C724-4390-B063-6D8954951B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8512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4FBCB2-BA67-458C-AADA-A092EA98D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30D224-5CB7-47F4-A381-81EE7019FE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C6F171-80BC-4172-A003-11611251C6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E1109A-8EF0-4D8E-992C-B8C2D505B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DB305-CDDE-4466-9C86-7BED34DE732E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498C0-D5AF-432E-8A2D-2E72E2AF4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A00AFD-E05A-41FD-B38E-7598FDB85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499E4-C724-4390-B063-6D8954951B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6485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7366C5-B38B-4670-9B2C-C638DE544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74426B-DDCA-40E3-8A7C-CD6F0A61A7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2CA4C54-92F7-45F1-B468-F6C2858CFD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6BD9FEF-2CD7-444A-B29F-70E620337F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9EE0C86-7FA8-4348-AE2C-B21ACC6B41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A30A35E-25F0-4C64-900D-67456D371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DB305-CDDE-4466-9C86-7BED34DE732E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C5C2B92-0150-4623-9A15-39598F5D5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A1880DA-8D91-45E9-88E3-8CC0A527E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499E4-C724-4390-B063-6D8954951B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2540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BBECAD-F564-4809-8D14-5BE0E443F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4DFCC2C-8FDB-41A0-8B9B-33A2363B5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DB305-CDDE-4466-9C86-7BED34DE732E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6BC4F56-7329-4479-B785-69AFBB5D8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4CB4501-632A-4A31-AC22-18961C2C9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499E4-C724-4390-B063-6D8954951B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8375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F640D92-6376-447B-A7AC-61A602EEB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DB305-CDDE-4466-9C86-7BED34DE732E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919000E-5ECD-4587-982C-C461F962E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25949F-6EA4-48C5-9C7E-FF78B3953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499E4-C724-4390-B063-6D8954951B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488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142753-8DF4-4E29-A3B7-066352CDE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A9107D-6BFE-4B33-8B35-E310D9F2F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07CAF2D-1AC3-4834-9193-3F321F1BE5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07569A-5356-4AE8-8089-7789B9757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DB305-CDDE-4466-9C86-7BED34DE732E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ED81705-DB92-432F-8FA7-0B237B4FC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6D626E-BDCE-4786-A43D-F79092148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499E4-C724-4390-B063-6D8954951B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0862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2FC154-94B9-4CAA-B7D1-65F8165A2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81C8D36-80ED-4488-9018-615E00BA41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DB1501F-D277-4260-9DE7-53E4D227AD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9B2A7A-FFE9-4D3E-AD83-D5E535B54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DB305-CDDE-4466-9C86-7BED34DE732E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77BCCF-54C9-4848-91B6-72D070CEC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85B4B7-29B2-4F23-BBE5-FB4C1CD1E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499E4-C724-4390-B063-6D8954951B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7814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8AEA98-C036-483C-97EF-3593E5E00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3A9B780-D183-42A2-A1A7-34F85CF87A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361D09-BF69-4510-ABD8-F8591B259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DB305-CDDE-4466-9C86-7BED34DE732E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1C377B-E193-4326-8DC4-1F862DE17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573A4A-31CF-4A95-B57A-B630ED9C5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499E4-C724-4390-B063-6D8954951B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9000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F05DB41-1B6B-460C-B1B9-FC6948DD0F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7D4DA4-055E-498C-85C8-EE34E3FA36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BBC577-8F6C-4177-9380-934D3B787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DB305-CDDE-4466-9C86-7BED34DE732E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9F1D14-5FC6-44C6-BFF0-852A285E2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B4F496-79CB-4690-B418-340156B55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499E4-C724-4390-B063-6D8954951B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137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E66CC30-D939-44E5-81C1-CC64274A8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FFCE1B-DE65-4830-A882-FE04278D8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44E67D-C1F5-4B79-AFD8-BD4E09B975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7DB305-CDDE-4466-9C86-7BED34DE732E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6982D9-8DD1-42CB-BB2E-4CDB2DD72F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A9B982-650C-4C29-AEFA-B006D59A8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0499E4-C724-4390-B063-6D8954951B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24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79E761-DF72-4307-AEC7-EAAD7BE65B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83870"/>
            <a:ext cx="9144000" cy="2387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b="1">
                <a:latin typeface="Noto Sans KR" panose="020B0200000000000000" pitchFamily="50" charset="-127"/>
                <a:ea typeface="Noto Sans KR" panose="020B0200000000000000" pitchFamily="50" charset="-127"/>
              </a:rPr>
              <a:t>서버프로그램구현평가</a:t>
            </a:r>
            <a:br>
              <a:rPr lang="ko-KR" altLang="en-US" sz="3200" b="1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3200" b="1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3200" b="1">
                <a:latin typeface="Noto Sans KR" panose="020B0200000000000000" pitchFamily="50" charset="-127"/>
                <a:ea typeface="Noto Sans KR" panose="020B0200000000000000" pitchFamily="50" charset="-127"/>
              </a:rPr>
              <a:t>회원가입 </a:t>
            </a:r>
            <a:r>
              <a:rPr lang="en-US" altLang="ko-KR" sz="3200" b="1">
                <a:latin typeface="Noto Sans KR" panose="020B0200000000000000" pitchFamily="50" charset="-127"/>
                <a:ea typeface="Noto Sans KR" panose="020B0200000000000000" pitchFamily="50" charset="-127"/>
              </a:rPr>
              <a:t>DB</a:t>
            </a:r>
            <a:r>
              <a:rPr lang="ko-KR" altLang="en-US" sz="3200" b="1">
                <a:latin typeface="Noto Sans KR" panose="020B0200000000000000" pitchFamily="50" charset="-127"/>
                <a:ea typeface="Noto Sans KR" panose="020B0200000000000000" pitchFamily="50" charset="-127"/>
              </a:rPr>
              <a:t>연동구현</a:t>
            </a:r>
            <a:r>
              <a:rPr lang="en-US" altLang="ko-KR" sz="3200" b="1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32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C2458B1-08E4-4A43-948A-88571FC17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63545"/>
            <a:ext cx="9144000" cy="1655762"/>
          </a:xfrm>
        </p:spPr>
        <p:txBody>
          <a:bodyPr>
            <a:normAutofit/>
          </a:bodyPr>
          <a:lstStyle/>
          <a:p>
            <a:r>
              <a:rPr lang="ko-KR" altLang="en-US" sz="2000" b="1">
                <a:latin typeface="Noto Sans KR" panose="020B0200000000000000" pitchFamily="50" charset="-127"/>
                <a:ea typeface="Noto Sans KR" panose="020B0200000000000000" pitchFamily="50" charset="-127"/>
              </a:rPr>
              <a:t>작성자 </a:t>
            </a:r>
            <a:r>
              <a:rPr lang="en-US" altLang="ko-KR" sz="2000" b="1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2000" b="1">
                <a:latin typeface="Noto Sans KR" panose="020B0200000000000000" pitchFamily="50" charset="-127"/>
                <a:ea typeface="Noto Sans KR" panose="020B0200000000000000" pitchFamily="50" charset="-127"/>
              </a:rPr>
              <a:t>성아인</a:t>
            </a:r>
          </a:p>
        </p:txBody>
      </p:sp>
    </p:spTree>
    <p:extLst>
      <p:ext uri="{BB962C8B-B14F-4D97-AF65-F5344CB8AC3E}">
        <p14:creationId xmlns:p14="http://schemas.microsoft.com/office/powerpoint/2010/main" val="1215522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2438FAD-0924-4840-8722-F19D009D1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07962"/>
            <a:ext cx="3516086" cy="473075"/>
          </a:xfrm>
        </p:spPr>
        <p:txBody>
          <a:bodyPr>
            <a:normAutofit/>
          </a:bodyPr>
          <a:lstStyle/>
          <a:p>
            <a:r>
              <a:rPr lang="ko-KR" altLang="en-US" sz="2400" b="1">
                <a:solidFill>
                  <a:schemeClr val="accent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개요 및 개발환경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7FBD0BE1-8144-42C1-8740-B07A9167F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6243" y="4690721"/>
            <a:ext cx="3328120" cy="1492136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</a:rPr>
              <a:t>호스팅 환경</a:t>
            </a:r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: MySQL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</a:rPr>
              <a:t>웹 서버</a:t>
            </a:r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: Apache (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</a:rPr>
              <a:t>닷홈 기본 제공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</a:rPr>
              <a:t>DB</a:t>
            </a:r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</a:rPr>
              <a:t>명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 : ain</a:t>
            </a:r>
            <a:endParaRPr lang="ko-KR" altLang="en-US" sz="16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ko-KR" altLang="en-US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80C8C72B-5B7E-4B92-935D-EADF26CCCCC7}"/>
              </a:ext>
            </a:extLst>
          </p:cNvPr>
          <p:cNvSpPr txBox="1">
            <a:spLocks/>
          </p:cNvSpPr>
          <p:nvPr/>
        </p:nvSpPr>
        <p:spPr>
          <a:xfrm>
            <a:off x="5613610" y="4690721"/>
            <a:ext cx="4107996" cy="1492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</a:rPr>
              <a:t>관리도구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 :  phpMyAdmin (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</a:rPr>
              <a:t>닷홈의 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DB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</a:rPr>
              <a:t>이용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</a:rPr>
              <a:t>개발 방식</a:t>
            </a:r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: SQL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</a:rPr>
              <a:t>직접 입력 방식</a:t>
            </a:r>
            <a:endParaRPr lang="en-US" altLang="ko-KR" sz="16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7F01C54-0951-4333-82D1-2BD0E58FD40C}"/>
              </a:ext>
            </a:extLst>
          </p:cNvPr>
          <p:cNvGrpSpPr/>
          <p:nvPr/>
        </p:nvGrpSpPr>
        <p:grpSpPr>
          <a:xfrm>
            <a:off x="719912" y="4086112"/>
            <a:ext cx="1441183" cy="395702"/>
            <a:chOff x="1937071" y="3913352"/>
            <a:chExt cx="1441183" cy="39570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B9B0526-A4BA-42E5-A6E3-9AC1655219D2}"/>
                </a:ext>
              </a:extLst>
            </p:cNvPr>
            <p:cNvSpPr txBox="1"/>
            <p:nvPr/>
          </p:nvSpPr>
          <p:spPr>
            <a:xfrm>
              <a:off x="1937071" y="3913352"/>
              <a:ext cx="10310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>
                  <a:latin typeface="Noto Sans KR" panose="020B0200000000000000" pitchFamily="50" charset="-127"/>
                  <a:ea typeface="Noto Sans KR" panose="020B0200000000000000" pitchFamily="50" charset="-127"/>
                </a:rPr>
                <a:t>개발환경</a:t>
              </a: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5607FD5B-5799-491B-906B-5B7D35A18F09}"/>
                </a:ext>
              </a:extLst>
            </p:cNvPr>
            <p:cNvCxnSpPr/>
            <p:nvPr/>
          </p:nvCxnSpPr>
          <p:spPr>
            <a:xfrm>
              <a:off x="2017540" y="4309054"/>
              <a:ext cx="136071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8FB561D-60CA-47A8-ABD1-639EE7807196}"/>
              </a:ext>
            </a:extLst>
          </p:cNvPr>
          <p:cNvGrpSpPr/>
          <p:nvPr/>
        </p:nvGrpSpPr>
        <p:grpSpPr>
          <a:xfrm>
            <a:off x="719912" y="946966"/>
            <a:ext cx="1441183" cy="395702"/>
            <a:chOff x="1937071" y="3913352"/>
            <a:chExt cx="1441183" cy="39570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DB9D0B4-50FB-4FA5-AA24-9DA4DD7946CA}"/>
                </a:ext>
              </a:extLst>
            </p:cNvPr>
            <p:cNvSpPr txBox="1"/>
            <p:nvPr/>
          </p:nvSpPr>
          <p:spPr>
            <a:xfrm>
              <a:off x="1937071" y="3913352"/>
              <a:ext cx="6078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>
                  <a:latin typeface="Noto Sans KR" panose="020B0200000000000000" pitchFamily="50" charset="-127"/>
                  <a:ea typeface="Noto Sans KR" panose="020B0200000000000000" pitchFamily="50" charset="-127"/>
                </a:rPr>
                <a:t>개요</a:t>
              </a:r>
            </a:p>
          </p:txBody>
        </p: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725A9CF3-74D5-44AA-B8DC-3ED85E99D6F6}"/>
                </a:ext>
              </a:extLst>
            </p:cNvPr>
            <p:cNvCxnSpPr/>
            <p:nvPr/>
          </p:nvCxnSpPr>
          <p:spPr>
            <a:xfrm>
              <a:off x="2017540" y="4309054"/>
              <a:ext cx="136071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2F8A2F5-564E-4092-8C70-63CA37EC18AB}"/>
              </a:ext>
            </a:extLst>
          </p:cNvPr>
          <p:cNvSpPr txBox="1"/>
          <p:nvPr/>
        </p:nvSpPr>
        <p:spPr>
          <a:xfrm>
            <a:off x="1235437" y="1699793"/>
            <a:ext cx="1008166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PHP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</a:rPr>
              <a:t>와 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MySQL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</a:rPr>
              <a:t>을 이용하여 회원 정보를 저장하고 관리한다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</a:rPr>
              <a:t>사용자는 아이디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</a:rPr>
              <a:t>비밀번호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</a:rPr>
              <a:t>이름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</a:rPr>
              <a:t>유저네임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</a:rPr>
              <a:t>이메일 등의 정보를 입력하고 저장할 수 있으며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</a:rPr>
              <a:t>저장된 데이터를 조회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</a:rPr>
              <a:t>수정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</a:rPr>
              <a:t>삭제할 수 있도록 구현하였다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</a:rPr>
              <a:t>또한 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SQL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</a:rPr>
              <a:t>직접 입력 방식을 사용하여 데이터베이스와 테이블을 생성하였으며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</a:rPr>
              <a:t>닷홈 서버와 연동하여 실제 웹 환경에서 실행 가능하도록 하였다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</a:rPr>
              <a:t>데이터 처리 과정에서 입력값 검증과 오류 메시지 출력 기능을 포함하여 안정적인 데이터 관리가 가능하도록 구현하였다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3401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195D52C-A91B-413D-9935-5AA5E4253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07962"/>
            <a:ext cx="3516086" cy="473075"/>
          </a:xfrm>
        </p:spPr>
        <p:txBody>
          <a:bodyPr>
            <a:normAutofit/>
          </a:bodyPr>
          <a:lstStyle/>
          <a:p>
            <a:r>
              <a:rPr lang="ko-KR" altLang="en-US" sz="2400" b="1">
                <a:solidFill>
                  <a:schemeClr val="accent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테이블 설계 및 </a:t>
            </a:r>
            <a:r>
              <a:rPr lang="en-US" altLang="ko-KR" sz="2400" b="1">
                <a:solidFill>
                  <a:schemeClr val="accent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SQL</a:t>
            </a:r>
            <a:endParaRPr lang="ko-KR" altLang="en-US" sz="2400" b="1">
              <a:solidFill>
                <a:schemeClr val="accent2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4" name="표 6">
            <a:extLst>
              <a:ext uri="{FF2B5EF4-FFF2-40B4-BE49-F238E27FC236}">
                <a16:creationId xmlns:a16="http://schemas.microsoft.com/office/drawing/2014/main" id="{2369E005-179B-45C2-9489-F39B2584E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127031"/>
              </p:ext>
            </p:extLst>
          </p:nvPr>
        </p:nvGraphicFramePr>
        <p:xfrm>
          <a:off x="2857882" y="1267763"/>
          <a:ext cx="5856510" cy="1986211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1171302">
                  <a:extLst>
                    <a:ext uri="{9D8B030D-6E8A-4147-A177-3AD203B41FA5}">
                      <a16:colId xmlns:a16="http://schemas.microsoft.com/office/drawing/2014/main" val="1709068235"/>
                    </a:ext>
                  </a:extLst>
                </a:gridCol>
                <a:gridCol w="1171302">
                  <a:extLst>
                    <a:ext uri="{9D8B030D-6E8A-4147-A177-3AD203B41FA5}">
                      <a16:colId xmlns:a16="http://schemas.microsoft.com/office/drawing/2014/main" val="3938679026"/>
                    </a:ext>
                  </a:extLst>
                </a:gridCol>
                <a:gridCol w="1171302">
                  <a:extLst>
                    <a:ext uri="{9D8B030D-6E8A-4147-A177-3AD203B41FA5}">
                      <a16:colId xmlns:a16="http://schemas.microsoft.com/office/drawing/2014/main" val="2393630862"/>
                    </a:ext>
                  </a:extLst>
                </a:gridCol>
                <a:gridCol w="1171302">
                  <a:extLst>
                    <a:ext uri="{9D8B030D-6E8A-4147-A177-3AD203B41FA5}">
                      <a16:colId xmlns:a16="http://schemas.microsoft.com/office/drawing/2014/main" val="1103049959"/>
                    </a:ext>
                  </a:extLst>
                </a:gridCol>
                <a:gridCol w="1171302">
                  <a:extLst>
                    <a:ext uri="{9D8B030D-6E8A-4147-A177-3AD203B41FA5}">
                      <a16:colId xmlns:a16="http://schemas.microsoft.com/office/drawing/2014/main" val="2481186337"/>
                    </a:ext>
                  </a:extLst>
                </a:gridCol>
              </a:tblGrid>
              <a:tr h="30122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/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b="1"/>
                        <a:t>NULL </a:t>
                      </a:r>
                      <a:r>
                        <a:rPr lang="ko-KR" altLang="en-US" sz="1200" b="1"/>
                        <a:t>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/>
                        <a:t>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731711"/>
                  </a:ext>
                </a:extLst>
              </a:tr>
              <a:tr h="33116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ID</a:t>
                      </a:r>
                      <a:endParaRPr lang="ko-KR" altLang="en-US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varchar(20)</a:t>
                      </a:r>
                      <a:endParaRPr lang="ko-KR" altLang="en-US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not null</a:t>
                      </a:r>
                      <a:endParaRPr lang="ko-KR" altLang="en-US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PK</a:t>
                      </a:r>
                      <a:endParaRPr lang="ko-KR" altLang="en-US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아이디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5697920"/>
                  </a:ext>
                </a:extLst>
              </a:tr>
              <a:tr h="33116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Pwd</a:t>
                      </a:r>
                      <a:endParaRPr lang="ko-KR" altLang="en-US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varchar(20)</a:t>
                      </a:r>
                      <a:endParaRPr lang="ko-KR" altLang="en-US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not null</a:t>
                      </a:r>
                      <a:endParaRPr lang="ko-KR" altLang="en-US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PK</a:t>
                      </a:r>
                      <a:endParaRPr lang="ko-KR" altLang="en-US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비밀번호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736779"/>
                  </a:ext>
                </a:extLst>
              </a:tr>
              <a:tr h="33116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Name</a:t>
                      </a:r>
                      <a:endParaRPr lang="ko-KR" altLang="en-US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varchar(20)</a:t>
                      </a:r>
                      <a:endParaRPr lang="ko-KR" altLang="en-US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null </a:t>
                      </a:r>
                      <a:r>
                        <a:rPr lang="ko-KR" altLang="en-US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허용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FK</a:t>
                      </a:r>
                      <a:endParaRPr lang="ko-KR" altLang="en-US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이름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3806055"/>
                  </a:ext>
                </a:extLst>
              </a:tr>
              <a:tr h="33116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Username</a:t>
                      </a:r>
                      <a:endParaRPr lang="ko-KR" altLang="en-US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varchar(10)</a:t>
                      </a:r>
                      <a:endParaRPr lang="ko-KR" altLang="en-US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null </a:t>
                      </a:r>
                      <a:r>
                        <a:rPr lang="ko-KR" altLang="en-US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허용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FK</a:t>
                      </a:r>
                      <a:endParaRPr lang="ko-KR" altLang="en-US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유저이름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230246"/>
                  </a:ext>
                </a:extLst>
              </a:tr>
              <a:tr h="33116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Email</a:t>
                      </a:r>
                      <a:endParaRPr lang="ko-KR" altLang="en-US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varchar(20)</a:t>
                      </a:r>
                      <a:endParaRPr lang="ko-KR" altLang="en-US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null </a:t>
                      </a:r>
                      <a:r>
                        <a:rPr lang="ko-KR" altLang="en-US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허용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FK</a:t>
                      </a:r>
                      <a:endParaRPr lang="ko-KR" altLang="en-US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이메일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94430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232BCBE-F28C-4ADB-B382-B6BE138D435D}"/>
              </a:ext>
            </a:extLst>
          </p:cNvPr>
          <p:cNvSpPr txBox="1"/>
          <p:nvPr/>
        </p:nvSpPr>
        <p:spPr>
          <a:xfrm>
            <a:off x="2704638" y="3840700"/>
            <a:ext cx="3276600" cy="2278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create table movie(</a:t>
            </a:r>
          </a:p>
          <a:p>
            <a:pPr>
              <a:lnSpc>
                <a:spcPct val="150000"/>
              </a:lnSpc>
            </a:pPr>
            <a:r>
              <a:rPr lang="en-US" altLang="ko-KR" sz="1200" b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    id varchar(20) not null,</a:t>
            </a:r>
          </a:p>
          <a:p>
            <a:pPr>
              <a:lnSpc>
                <a:spcPct val="150000"/>
              </a:lnSpc>
            </a:pPr>
            <a:r>
              <a:rPr lang="en-US" altLang="ko-KR" sz="1200" b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    pwd varchar(20) not null,</a:t>
            </a:r>
          </a:p>
          <a:p>
            <a:pPr>
              <a:lnSpc>
                <a:spcPct val="150000"/>
              </a:lnSpc>
            </a:pPr>
            <a:r>
              <a:rPr lang="en-US" altLang="ko-KR" sz="1200" b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    name varchar(20),</a:t>
            </a:r>
          </a:p>
          <a:p>
            <a:pPr>
              <a:lnSpc>
                <a:spcPct val="150000"/>
              </a:lnSpc>
            </a:pPr>
            <a:r>
              <a:rPr lang="en-US" altLang="ko-KR" sz="1200" b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    username varchar(10),</a:t>
            </a:r>
          </a:p>
          <a:p>
            <a:pPr>
              <a:lnSpc>
                <a:spcPct val="150000"/>
              </a:lnSpc>
            </a:pPr>
            <a:r>
              <a:rPr lang="en-US" altLang="ko-KR" sz="1200" b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    email varchar(20),</a:t>
            </a:r>
          </a:p>
          <a:p>
            <a:pPr>
              <a:lnSpc>
                <a:spcPct val="150000"/>
              </a:lnSpc>
            </a:pPr>
            <a:r>
              <a:rPr lang="en-US" altLang="ko-KR" sz="1200" b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    primary key(id)</a:t>
            </a:r>
          </a:p>
          <a:p>
            <a:pPr>
              <a:lnSpc>
                <a:spcPct val="150000"/>
              </a:lnSpc>
            </a:pPr>
            <a:r>
              <a:rPr lang="en-US" altLang="ko-KR" sz="1200" b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)engine=innoDB charset=utf8;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CA0EC12-F403-48CE-9252-B647688040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941" y="4208494"/>
            <a:ext cx="2381250" cy="1543050"/>
          </a:xfrm>
          <a:prstGeom prst="rect">
            <a:avLst/>
          </a:prstGeom>
        </p:spPr>
      </p:pic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5251D09A-F194-4E2B-9AD4-0E0B1296AE2F}"/>
              </a:ext>
            </a:extLst>
          </p:cNvPr>
          <p:cNvSpPr/>
          <p:nvPr/>
        </p:nvSpPr>
        <p:spPr>
          <a:xfrm rot="5400000">
            <a:off x="5508171" y="3399220"/>
            <a:ext cx="511628" cy="664029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5494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0DA75A7-4192-45B6-8DEB-735B3076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07962"/>
            <a:ext cx="3516086" cy="473075"/>
          </a:xfrm>
        </p:spPr>
        <p:txBody>
          <a:bodyPr>
            <a:normAutofit/>
          </a:bodyPr>
          <a:lstStyle/>
          <a:p>
            <a:r>
              <a:rPr lang="ko-KR" altLang="en-US" sz="2400" b="1">
                <a:solidFill>
                  <a:schemeClr val="accent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데이터베이스 결과화면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AEC4563-380D-4CF4-A3E6-4AA77AE04F6B}"/>
              </a:ext>
            </a:extLst>
          </p:cNvPr>
          <p:cNvGrpSpPr/>
          <p:nvPr/>
        </p:nvGrpSpPr>
        <p:grpSpPr>
          <a:xfrm>
            <a:off x="5828340" y="454261"/>
            <a:ext cx="3217371" cy="814454"/>
            <a:chOff x="5828340" y="454261"/>
            <a:chExt cx="3217371" cy="814454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1860AEFC-77C2-428C-934C-F9F6439686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26" r="803" b="26624"/>
            <a:stretch/>
          </p:blipFill>
          <p:spPr>
            <a:xfrm>
              <a:off x="5908810" y="1061886"/>
              <a:ext cx="3136901" cy="206829"/>
            </a:xfrm>
            <a:prstGeom prst="rect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</p:pic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F4B215DD-4BD1-49DC-96F8-FCB77676F506}"/>
                </a:ext>
              </a:extLst>
            </p:cNvPr>
            <p:cNvGrpSpPr/>
            <p:nvPr/>
          </p:nvGrpSpPr>
          <p:grpSpPr>
            <a:xfrm>
              <a:off x="5828340" y="454261"/>
              <a:ext cx="1936484" cy="395702"/>
              <a:chOff x="5904539" y="1509930"/>
              <a:chExt cx="1936484" cy="395702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2D63815-CE0F-4BD6-A8EA-04D892FAAB0A}"/>
                  </a:ext>
                </a:extLst>
              </p:cNvPr>
              <p:cNvSpPr txBox="1"/>
              <p:nvPr/>
            </p:nvSpPr>
            <p:spPr>
              <a:xfrm>
                <a:off x="5904539" y="1509930"/>
                <a:ext cx="19364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b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테이블 결과화면</a:t>
                </a:r>
              </a:p>
            </p:txBody>
          </p:sp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B9DC3FF4-FE55-430F-837A-7F3FAECFB3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85009" y="1905632"/>
                <a:ext cx="185601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FF42244-B5F8-4FF3-B5D6-F168F33388A9}"/>
              </a:ext>
            </a:extLst>
          </p:cNvPr>
          <p:cNvGrpSpPr/>
          <p:nvPr/>
        </p:nvGrpSpPr>
        <p:grpSpPr>
          <a:xfrm>
            <a:off x="5828341" y="1650405"/>
            <a:ext cx="5319219" cy="1366125"/>
            <a:chOff x="5828341" y="1618096"/>
            <a:chExt cx="5319219" cy="136612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11A11A5-D589-46DF-89FA-33AB44564BAB}"/>
                </a:ext>
              </a:extLst>
            </p:cNvPr>
            <p:cNvSpPr txBox="1"/>
            <p:nvPr/>
          </p:nvSpPr>
          <p:spPr>
            <a:xfrm>
              <a:off x="5828341" y="1618096"/>
              <a:ext cx="11769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>
                  <a:latin typeface="Noto Sans KR" panose="020B0200000000000000" pitchFamily="50" charset="-127"/>
                  <a:ea typeface="Noto Sans KR" panose="020B0200000000000000" pitchFamily="50" charset="-127"/>
                </a:rPr>
                <a:t>데이터 추가</a:t>
              </a:r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7D5B185B-0227-48B1-9DFE-CD3330DBFF57}"/>
                </a:ext>
              </a:extLst>
            </p:cNvPr>
            <p:cNvCxnSpPr>
              <a:cxnSpLocks/>
            </p:cNvCxnSpPr>
            <p:nvPr/>
          </p:nvCxnSpPr>
          <p:spPr>
            <a:xfrm>
              <a:off x="5908810" y="2013798"/>
              <a:ext cx="1779815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32D1CF3D-84BD-4F08-8ED7-6DEE8E0E76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08810" y="2174596"/>
              <a:ext cx="5238750" cy="809625"/>
            </a:xfrm>
            <a:prstGeom prst="rect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</p:pic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20A935DE-BF3F-49FF-A5AE-6DF42A383D70}"/>
              </a:ext>
            </a:extLst>
          </p:cNvPr>
          <p:cNvGrpSpPr/>
          <p:nvPr/>
        </p:nvGrpSpPr>
        <p:grpSpPr>
          <a:xfrm>
            <a:off x="5828341" y="3398220"/>
            <a:ext cx="5147769" cy="1121440"/>
            <a:chOff x="5828341" y="3259723"/>
            <a:chExt cx="5147769" cy="112144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D328CE9-82BC-4492-B16A-9FBF0B3F521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3025"/>
            <a:stretch/>
          </p:blipFill>
          <p:spPr>
            <a:xfrm>
              <a:off x="5908810" y="3817828"/>
              <a:ext cx="5067300" cy="563335"/>
            </a:xfrm>
            <a:prstGeom prst="rect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4EF0A5F-6552-47B4-ABFE-7ED959113CA2}"/>
                </a:ext>
              </a:extLst>
            </p:cNvPr>
            <p:cNvSpPr txBox="1"/>
            <p:nvPr/>
          </p:nvSpPr>
          <p:spPr>
            <a:xfrm>
              <a:off x="5828341" y="3259723"/>
              <a:ext cx="11769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>
                  <a:latin typeface="Noto Sans KR" panose="020B0200000000000000" pitchFamily="50" charset="-127"/>
                  <a:ea typeface="Noto Sans KR" panose="020B0200000000000000" pitchFamily="50" charset="-127"/>
                </a:rPr>
                <a:t>데이터 삭제</a:t>
              </a:r>
            </a:p>
          </p:txBody>
        </p: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1C079C8D-7AD9-498C-A59F-F73D9B08F07E}"/>
                </a:ext>
              </a:extLst>
            </p:cNvPr>
            <p:cNvCxnSpPr>
              <a:cxnSpLocks/>
            </p:cNvCxnSpPr>
            <p:nvPr/>
          </p:nvCxnSpPr>
          <p:spPr>
            <a:xfrm>
              <a:off x="5908810" y="3655425"/>
              <a:ext cx="1779815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41" name="그림 40">
            <a:extLst>
              <a:ext uri="{FF2B5EF4-FFF2-40B4-BE49-F238E27FC236}">
                <a16:creationId xmlns:a16="http://schemas.microsoft.com/office/drawing/2014/main" id="{578595D2-8C13-4511-93E0-F74D3C7DBA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189" y="1262743"/>
            <a:ext cx="3226220" cy="47298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</p:pic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AA11634E-70C1-489C-ADD3-13A62B2C55A7}"/>
              </a:ext>
            </a:extLst>
          </p:cNvPr>
          <p:cNvSpPr/>
          <p:nvPr/>
        </p:nvSpPr>
        <p:spPr>
          <a:xfrm>
            <a:off x="5002649" y="3349494"/>
            <a:ext cx="511628" cy="664029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E56CF31-0391-4A28-B799-6FC2EF52F649}"/>
              </a:ext>
            </a:extLst>
          </p:cNvPr>
          <p:cNvGrpSpPr/>
          <p:nvPr/>
        </p:nvGrpSpPr>
        <p:grpSpPr>
          <a:xfrm>
            <a:off x="5828340" y="4901350"/>
            <a:ext cx="5138245" cy="1091236"/>
            <a:chOff x="5828340" y="4901350"/>
            <a:chExt cx="5138245" cy="109123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59C3FDA7-D4EE-42F1-961F-2A0178E0748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08810" y="5421086"/>
              <a:ext cx="5057775" cy="571500"/>
            </a:xfrm>
            <a:prstGeom prst="rect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</p:pic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29353AB5-F5CB-4EE6-9B4A-EB4C0E5C1614}"/>
                </a:ext>
              </a:extLst>
            </p:cNvPr>
            <p:cNvGrpSpPr/>
            <p:nvPr/>
          </p:nvGrpSpPr>
          <p:grpSpPr>
            <a:xfrm>
              <a:off x="5828340" y="4901350"/>
              <a:ext cx="1936483" cy="395702"/>
              <a:chOff x="5904540" y="1509930"/>
              <a:chExt cx="1936483" cy="395702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02ED1F1-F42A-4DCA-979E-8215DE5D5FB4}"/>
                  </a:ext>
                </a:extLst>
              </p:cNvPr>
              <p:cNvSpPr txBox="1"/>
              <p:nvPr/>
            </p:nvSpPr>
            <p:spPr>
              <a:xfrm>
                <a:off x="5904540" y="1509930"/>
                <a:ext cx="117692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600" b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데이터 수정</a:t>
                </a:r>
              </a:p>
            </p:txBody>
          </p:sp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E1C52352-A791-4BF4-9C53-192BB25F8B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85009" y="1905632"/>
                <a:ext cx="185601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650038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E81053-4F40-42E5-A30F-0A36EC37C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07962"/>
            <a:ext cx="3516086" cy="473075"/>
          </a:xfrm>
        </p:spPr>
        <p:txBody>
          <a:bodyPr>
            <a:normAutofit/>
          </a:bodyPr>
          <a:lstStyle/>
          <a:p>
            <a:r>
              <a:rPr lang="ko-KR" altLang="en-US" sz="2400" b="1">
                <a:solidFill>
                  <a:schemeClr val="accent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주요기능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3B572E3-3C8D-4BB1-BCE6-0EACB7631BA8}"/>
              </a:ext>
            </a:extLst>
          </p:cNvPr>
          <p:cNvGrpSpPr/>
          <p:nvPr/>
        </p:nvGrpSpPr>
        <p:grpSpPr>
          <a:xfrm>
            <a:off x="1030451" y="1906206"/>
            <a:ext cx="11078714" cy="3470887"/>
            <a:chOff x="913493" y="1693555"/>
            <a:chExt cx="11078714" cy="347088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12854CE-8330-4ACE-AD4F-F0AF081C0669}"/>
                </a:ext>
              </a:extLst>
            </p:cNvPr>
            <p:cNvSpPr txBox="1"/>
            <p:nvPr/>
          </p:nvSpPr>
          <p:spPr>
            <a:xfrm>
              <a:off x="913493" y="1693555"/>
              <a:ext cx="5182507" cy="347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20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회원 정보 등록 기능</a:t>
              </a:r>
            </a:p>
            <a:p>
              <a:pPr marL="285750" indent="-285750">
                <a:lnSpc>
                  <a:spcPct val="20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아이디</a:t>
              </a:r>
              <a:r>
                <a:rPr lang="en-US" altLang="ko-KR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비밀번호</a:t>
              </a:r>
              <a:r>
                <a:rPr lang="en-US" altLang="ko-KR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이름</a:t>
              </a:r>
              <a:r>
                <a:rPr lang="en-US" altLang="ko-KR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유저네임</a:t>
              </a:r>
              <a:r>
                <a:rPr lang="en-US" altLang="ko-KR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이메일 입력 후 </a:t>
              </a:r>
              <a:r>
                <a:rPr lang="en-US" altLang="ko-KR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DB </a:t>
              </a:r>
              <a:r>
                <a:rPr lang="ko-KR" altLang="en-US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저장</a:t>
              </a:r>
            </a:p>
            <a:p>
              <a:pPr marL="285750" indent="-285750">
                <a:lnSpc>
                  <a:spcPct val="20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데이터 조회 기능</a:t>
              </a:r>
            </a:p>
            <a:p>
              <a:pPr marL="285750" indent="-285750">
                <a:lnSpc>
                  <a:spcPct val="20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저장된 회원 정보를 목록 형태로 출력</a:t>
              </a:r>
            </a:p>
            <a:p>
              <a:pPr marL="285750" indent="-285750">
                <a:lnSpc>
                  <a:spcPct val="20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데이터 수정 기능</a:t>
              </a:r>
            </a:p>
            <a:p>
              <a:pPr marL="285750" indent="-285750">
                <a:lnSpc>
                  <a:spcPct val="20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기존 회원 정보를 수정 후 다시 저장</a:t>
              </a:r>
            </a:p>
            <a:p>
              <a:pPr marL="285750" indent="-285750">
                <a:lnSpc>
                  <a:spcPct val="20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데이터 삭제 기능</a:t>
              </a:r>
            </a:p>
            <a:p>
              <a:pPr marL="285750" indent="-285750">
                <a:lnSpc>
                  <a:spcPct val="20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선택한 회원 정보를 삭제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B289FB6-3DF9-4AEC-8DBD-4FCE9044D23B}"/>
                </a:ext>
              </a:extLst>
            </p:cNvPr>
            <p:cNvSpPr txBox="1"/>
            <p:nvPr/>
          </p:nvSpPr>
          <p:spPr>
            <a:xfrm>
              <a:off x="5850132" y="1693555"/>
              <a:ext cx="6142075" cy="347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200000"/>
                </a:lnSpc>
                <a:buFont typeface="Wingdings" panose="05000000000000000000" pitchFamily="2" charset="2"/>
                <a:buChar char="§"/>
              </a:pPr>
              <a:r>
                <a:rPr lang="en-US" altLang="ko-KR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MySQL </a:t>
              </a:r>
              <a:r>
                <a:rPr lang="ko-KR" altLang="en-US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데이터베이스 연동</a:t>
              </a:r>
            </a:p>
            <a:p>
              <a:pPr marL="342900" indent="-342900">
                <a:lnSpc>
                  <a:spcPct val="200000"/>
                </a:lnSpc>
                <a:buFont typeface="Wingdings" panose="05000000000000000000" pitchFamily="2" charset="2"/>
                <a:buChar char="§"/>
              </a:pPr>
              <a:r>
                <a:rPr lang="en-US" altLang="ko-KR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PHP</a:t>
              </a:r>
              <a:r>
                <a:rPr lang="ko-KR" altLang="en-US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와 </a:t>
              </a:r>
              <a:r>
                <a:rPr lang="en-US" altLang="ko-KR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MySQL</a:t>
              </a:r>
              <a:r>
                <a:rPr lang="ko-KR" altLang="en-US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을 연결하여 데이터 저장 및 조회 처리</a:t>
              </a:r>
            </a:p>
            <a:p>
              <a:pPr marL="342900" indent="-342900">
                <a:lnSpc>
                  <a:spcPct val="200000"/>
                </a:lnSpc>
                <a:buFont typeface="Wingdings" panose="05000000000000000000" pitchFamily="2" charset="2"/>
                <a:buChar char="§"/>
              </a:pPr>
              <a:r>
                <a:rPr lang="en-US" altLang="ko-KR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SQL </a:t>
              </a:r>
              <a:r>
                <a:rPr lang="ko-KR" altLang="en-US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직접 입력 방식 사용</a:t>
              </a:r>
            </a:p>
            <a:p>
              <a:pPr marL="342900" indent="-342900">
                <a:lnSpc>
                  <a:spcPct val="200000"/>
                </a:lnSpc>
                <a:buFont typeface="Wingdings" panose="05000000000000000000" pitchFamily="2" charset="2"/>
                <a:buChar char="§"/>
              </a:pPr>
              <a:r>
                <a:rPr lang="en-US" altLang="ko-KR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CREATE TABLE, INSERT INTO </a:t>
              </a:r>
              <a:r>
                <a:rPr lang="ko-KR" altLang="en-US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등의 </a:t>
              </a:r>
              <a:r>
                <a:rPr lang="en-US" altLang="ko-KR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SQL </a:t>
              </a:r>
              <a:r>
                <a:rPr lang="ko-KR" altLang="en-US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문을 직접 작성하여 </a:t>
              </a:r>
              <a:r>
                <a:rPr lang="en-US" altLang="ko-KR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DB </a:t>
              </a:r>
              <a:r>
                <a:rPr lang="ko-KR" altLang="en-US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구성</a:t>
              </a:r>
            </a:p>
            <a:p>
              <a:pPr marL="342900" indent="-342900">
                <a:lnSpc>
                  <a:spcPct val="20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오류 메시지 출력 기능</a:t>
              </a:r>
            </a:p>
            <a:p>
              <a:pPr marL="342900" indent="-342900">
                <a:lnSpc>
                  <a:spcPct val="20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입력 오류 또는 </a:t>
              </a:r>
              <a:r>
                <a:rPr lang="en-US" altLang="ko-KR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DB </a:t>
              </a:r>
              <a:r>
                <a:rPr lang="ko-KR" altLang="en-US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오류 발생 시 메시지 표시</a:t>
              </a:r>
            </a:p>
            <a:p>
              <a:pPr marL="342900" indent="-342900">
                <a:lnSpc>
                  <a:spcPct val="20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닷홈 서버 배포</a:t>
              </a:r>
            </a:p>
            <a:p>
              <a:pPr marL="342900" indent="-342900">
                <a:lnSpc>
                  <a:spcPct val="20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닷홈 계정에 업로드하여 실제 웹에서 실행 가능하도록 구현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7709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95E2178-6174-44A4-BE65-C24359067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07962"/>
            <a:ext cx="3516086" cy="473075"/>
          </a:xfrm>
        </p:spPr>
        <p:txBody>
          <a:bodyPr>
            <a:normAutofit/>
          </a:bodyPr>
          <a:lstStyle/>
          <a:p>
            <a:r>
              <a:rPr lang="ko-KR" altLang="en-US" sz="2400" b="1">
                <a:solidFill>
                  <a:schemeClr val="accent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함초롬돋움" panose="020B0604000101010101" pitchFamily="50" charset="-127"/>
              </a:rPr>
              <a:t>사용기술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B04840C4-EABF-412F-9BA7-1B3C46753107}"/>
              </a:ext>
            </a:extLst>
          </p:cNvPr>
          <p:cNvGrpSpPr/>
          <p:nvPr/>
        </p:nvGrpSpPr>
        <p:grpSpPr>
          <a:xfrm>
            <a:off x="1571333" y="1814499"/>
            <a:ext cx="1458685" cy="338554"/>
            <a:chOff x="870858" y="1316355"/>
            <a:chExt cx="1458685" cy="338554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514E0F5-BCCB-4430-9E12-C48660628837}"/>
                </a:ext>
              </a:extLst>
            </p:cNvPr>
            <p:cNvSpPr txBox="1"/>
            <p:nvPr/>
          </p:nvSpPr>
          <p:spPr>
            <a:xfrm>
              <a:off x="870858" y="1316355"/>
              <a:ext cx="6126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>
                  <a:latin typeface="Noto Sans KR" panose="020B0200000000000000" pitchFamily="50" charset="-127"/>
                  <a:ea typeface="Noto Sans KR" panose="020B0200000000000000" pitchFamily="50" charset="-127"/>
                </a:rPr>
                <a:t>PHP</a:t>
              </a:r>
              <a:endPara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2DFD850E-4B5E-4042-BD6A-1363371F3E2E}"/>
                </a:ext>
              </a:extLst>
            </p:cNvPr>
            <p:cNvCxnSpPr/>
            <p:nvPr/>
          </p:nvCxnSpPr>
          <p:spPr>
            <a:xfrm>
              <a:off x="870858" y="1654909"/>
              <a:ext cx="145868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DD745F63-C183-4EE8-A3E1-B9DB315AB802}"/>
              </a:ext>
            </a:extLst>
          </p:cNvPr>
          <p:cNvGrpSpPr/>
          <p:nvPr/>
        </p:nvGrpSpPr>
        <p:grpSpPr>
          <a:xfrm>
            <a:off x="1571333" y="4056956"/>
            <a:ext cx="1458685" cy="338554"/>
            <a:chOff x="870858" y="1316355"/>
            <a:chExt cx="1458685" cy="33855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1F1D584-973A-4960-992F-B4F2B42D1F72}"/>
                </a:ext>
              </a:extLst>
            </p:cNvPr>
            <p:cNvSpPr txBox="1"/>
            <p:nvPr/>
          </p:nvSpPr>
          <p:spPr>
            <a:xfrm>
              <a:off x="870858" y="1316355"/>
              <a:ext cx="8819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>
                  <a:latin typeface="Noto Sans KR" panose="020B0200000000000000" pitchFamily="50" charset="-127"/>
                  <a:ea typeface="Noto Sans KR" panose="020B0200000000000000" pitchFamily="50" charset="-127"/>
                </a:rPr>
                <a:t>MySQL</a:t>
              </a:r>
              <a:endPara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3C94C8A4-B0E3-4677-BC05-6A332FE8F68A}"/>
                </a:ext>
              </a:extLst>
            </p:cNvPr>
            <p:cNvCxnSpPr/>
            <p:nvPr/>
          </p:nvCxnSpPr>
          <p:spPr>
            <a:xfrm>
              <a:off x="870858" y="1654909"/>
              <a:ext cx="145868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70595DDB-3CDB-4BAD-BCD3-63B9B3750862}"/>
              </a:ext>
            </a:extLst>
          </p:cNvPr>
          <p:cNvSpPr txBox="1"/>
          <p:nvPr/>
        </p:nvSpPr>
        <p:spPr>
          <a:xfrm>
            <a:off x="2453306" y="2543249"/>
            <a:ext cx="6218369" cy="10030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함초롬돋움" panose="020B0604000101010101" pitchFamily="50" charset="-127"/>
              </a:rPr>
              <a:t>서버 사이드 로직 처리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함초롬돋움" panose="020B0604000101010101" pitchFamily="50" charset="-127"/>
              </a:rPr>
              <a:t> :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함초롬돋움" panose="020B0604000101010101" pitchFamily="50" charset="-127"/>
              </a:rPr>
              <a:t>회원가입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함초롬돋움" panose="020B0604000101010101" pitchFamily="50" charset="-127"/>
              </a:rPr>
              <a:t>로그인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함초롬돋움" panose="020B0604000101010101" pitchFamily="50" charset="-127"/>
              </a:rPr>
              <a:t>세션관리등 핵심 기능 구현</a:t>
            </a:r>
            <a:endParaRPr lang="en-US" altLang="ko-KR" sz="1600">
              <a:latin typeface="Noto Sans KR" panose="020B0200000000000000" pitchFamily="50" charset="-127"/>
              <a:ea typeface="Noto Sans KR" panose="020B0200000000000000" pitchFamily="50" charset="-127"/>
              <a:cs typeface="함초롬돋움" panose="020B0604000101010101" pitchFamily="50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함초롬돋움" panose="020B0604000101010101" pitchFamily="50" charset="-127"/>
              </a:rPr>
              <a:t>DB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함초롬돋움" panose="020B0604000101010101" pitchFamily="50" charset="-127"/>
              </a:rPr>
              <a:t>연동 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함초롬돋움" panose="020B0604000101010101" pitchFamily="50" charset="-127"/>
              </a:rPr>
              <a:t>: PHP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함초롬돋움" panose="020B0604000101010101" pitchFamily="50" charset="-127"/>
              </a:rPr>
              <a:t>와 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함초롬돋움" panose="020B0604000101010101" pitchFamily="50" charset="-127"/>
              </a:rPr>
              <a:t>MySQL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함초롬돋움" panose="020B0604000101010101" pitchFamily="50" charset="-127"/>
              </a:rPr>
              <a:t>을 하나로 연결하여 데이터를 주고 받음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50475F-F12C-4B70-AF1E-EBFDF6B04CA2}"/>
              </a:ext>
            </a:extLst>
          </p:cNvPr>
          <p:cNvSpPr txBox="1"/>
          <p:nvPr/>
        </p:nvSpPr>
        <p:spPr>
          <a:xfrm>
            <a:off x="2487229" y="4768538"/>
            <a:ext cx="8502649" cy="8663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함초롬돋움" panose="020B0604000101010101" pitchFamily="50" charset="-127"/>
              </a:rPr>
              <a:t>데이터 저장 및 조회 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함초롬돋움" panose="020B0604000101010101" pitchFamily="50" charset="-127"/>
              </a:rPr>
              <a:t>사용자가 쓴 글을 데이터베이스에 저장하고 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함초롬돋움" panose="020B0604000101010101" pitchFamily="50" charset="-127"/>
              </a:rPr>
              <a:t>DB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함초롬돋움" panose="020B0604000101010101" pitchFamily="50" charset="-127"/>
              </a:rPr>
              <a:t>에 있는 정보를 화면에 표시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함초롬돋움" panose="020B0604000101010101" pitchFamily="50" charset="-127"/>
              </a:rPr>
              <a:t> </a:t>
            </a:r>
          </a:p>
          <a:p>
            <a:pPr>
              <a:lnSpc>
                <a:spcPct val="150000"/>
              </a:lnSpc>
            </a:pP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874018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0A43551-9555-4899-A316-23E72788D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07962"/>
            <a:ext cx="3516086" cy="473075"/>
          </a:xfrm>
        </p:spPr>
        <p:txBody>
          <a:bodyPr>
            <a:normAutofit/>
          </a:bodyPr>
          <a:lstStyle/>
          <a:p>
            <a:r>
              <a:rPr lang="ko-KR" altLang="en-US" sz="2400" b="1">
                <a:solidFill>
                  <a:schemeClr val="accent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실행</a:t>
            </a:r>
            <a:r>
              <a:rPr lang="ko-KR" altLang="en-US" sz="2400" b="1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400" b="1">
                <a:solidFill>
                  <a:schemeClr val="accent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결과화면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097A7CD4-BAF2-41FB-8AFE-EC2DAE32C698}"/>
              </a:ext>
            </a:extLst>
          </p:cNvPr>
          <p:cNvCxnSpPr/>
          <p:nvPr/>
        </p:nvCxnSpPr>
        <p:spPr>
          <a:xfrm>
            <a:off x="2950029" y="5312229"/>
            <a:ext cx="206828" cy="0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794A2F31-D252-46D2-8D1C-46FEC43A74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847" y="1545770"/>
            <a:ext cx="2556515" cy="4273578"/>
          </a:xfrm>
          <a:prstGeom prst="rect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29A1E42-7F8C-4C46-84AA-6DCA180C88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348" y="1545770"/>
            <a:ext cx="4324350" cy="137160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D0812EF-2C67-4173-8B4B-B2D7F3258D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348" y="3538347"/>
            <a:ext cx="5200650" cy="495300"/>
          </a:xfrm>
          <a:prstGeom prst="rect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</p:pic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4D4B7094-D52A-4369-9A7E-BF588CF86102}"/>
              </a:ext>
            </a:extLst>
          </p:cNvPr>
          <p:cNvCxnSpPr>
            <a:cxnSpLocks/>
            <a:endCxn id="14" idx="1"/>
          </p:cNvCxnSpPr>
          <p:nvPr/>
        </p:nvCxnSpPr>
        <p:spPr>
          <a:xfrm rot="5400000" flipH="1" flipV="1">
            <a:off x="2717193" y="3785071"/>
            <a:ext cx="3437656" cy="330654"/>
          </a:xfrm>
          <a:prstGeom prst="bentConnector2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E808D2DB-A82D-4FFE-922E-704D70C9A0E1}"/>
              </a:ext>
            </a:extLst>
          </p:cNvPr>
          <p:cNvCxnSpPr>
            <a:cxnSpLocks/>
          </p:cNvCxnSpPr>
          <p:nvPr/>
        </p:nvCxnSpPr>
        <p:spPr>
          <a:xfrm>
            <a:off x="6436951" y="3023997"/>
            <a:ext cx="0" cy="360000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25AF9CD-B8FD-4EC5-9F4F-EBA475759AC2}"/>
              </a:ext>
            </a:extLst>
          </p:cNvPr>
          <p:cNvSpPr txBox="1"/>
          <p:nvPr/>
        </p:nvSpPr>
        <p:spPr>
          <a:xfrm>
            <a:off x="4517433" y="4269756"/>
            <a:ext cx="49071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latin typeface="Noto Sans KR" panose="020B0200000000000000" pitchFamily="50" charset="-127"/>
                <a:ea typeface="Noto Sans KR" panose="020B0200000000000000" pitchFamily="50" charset="-127"/>
              </a:rPr>
              <a:t>▶  실행화면에서 회원탈퇴를 누르면 데이터베이스에서 삭제된다</a:t>
            </a:r>
            <a:r>
              <a:rPr lang="en-US" altLang="ko-KR" sz="140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4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E3E65E00-FD4C-4048-A5EB-919C4A626E36}"/>
              </a:ext>
            </a:extLst>
          </p:cNvPr>
          <p:cNvGrpSpPr/>
          <p:nvPr/>
        </p:nvGrpSpPr>
        <p:grpSpPr>
          <a:xfrm>
            <a:off x="4700680" y="5035230"/>
            <a:ext cx="4060727" cy="553998"/>
            <a:chOff x="4700680" y="5145184"/>
            <a:chExt cx="4060727" cy="553998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012445F-59BF-4666-85F4-CBB2E5B0FDB1}"/>
                </a:ext>
              </a:extLst>
            </p:cNvPr>
            <p:cNvSpPr txBox="1"/>
            <p:nvPr/>
          </p:nvSpPr>
          <p:spPr>
            <a:xfrm>
              <a:off x="4700680" y="5422183"/>
              <a:ext cx="406072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>
                  <a:latin typeface="Noto Sans KR" panose="020B0200000000000000" pitchFamily="50" charset="-127"/>
                  <a:ea typeface="Noto Sans KR" panose="020B0200000000000000" pitchFamily="50" charset="-127"/>
                </a:rPr>
                <a:t>https://ain.dothome.co.kr/movies/member_form.php</a:t>
              </a:r>
              <a:endPara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36F9372-1E49-4D65-8DB7-B7087EA8C155}"/>
                </a:ext>
              </a:extLst>
            </p:cNvPr>
            <p:cNvSpPr txBox="1"/>
            <p:nvPr/>
          </p:nvSpPr>
          <p:spPr>
            <a:xfrm>
              <a:off x="4700680" y="5145184"/>
              <a:ext cx="143180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>
                  <a:latin typeface="Noto Sans KR" panose="020B0200000000000000" pitchFamily="50" charset="-127"/>
                  <a:ea typeface="Noto Sans KR" panose="020B0200000000000000" pitchFamily="50" charset="-127"/>
                </a:rPr>
                <a:t>→ 구현한 닷홈 주소</a:t>
              </a:r>
            </a:p>
          </p:txBody>
        </p:sp>
      </p:grp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AB78CCE-D0E1-4F91-B0EC-CC10CA38BD8C}"/>
              </a:ext>
            </a:extLst>
          </p:cNvPr>
          <p:cNvCxnSpPr>
            <a:cxnSpLocks/>
          </p:cNvCxnSpPr>
          <p:nvPr/>
        </p:nvCxnSpPr>
        <p:spPr>
          <a:xfrm flipH="1">
            <a:off x="4008474" y="5677786"/>
            <a:ext cx="26222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730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0A43551-9555-4899-A316-23E72788D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07962"/>
            <a:ext cx="3516086" cy="473075"/>
          </a:xfrm>
        </p:spPr>
        <p:txBody>
          <a:bodyPr>
            <a:normAutofit/>
          </a:bodyPr>
          <a:lstStyle/>
          <a:p>
            <a:r>
              <a:rPr lang="ko-KR" altLang="en-US" sz="2400" b="1">
                <a:solidFill>
                  <a:schemeClr val="accent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실행 결과화면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58C8A22-CDFE-49AD-867B-FE2BD02F8E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970" y="1805454"/>
            <a:ext cx="3715312" cy="4039426"/>
          </a:xfrm>
          <a:prstGeom prst="rect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9EE4F45-7750-474C-84EE-54FDBB7A7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811" y="1805455"/>
            <a:ext cx="2557114" cy="4039425"/>
          </a:xfrm>
          <a:prstGeom prst="rect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C7EAD05-4C73-40FD-B31C-358DC8B24FF4}"/>
              </a:ext>
            </a:extLst>
          </p:cNvPr>
          <p:cNvGrpSpPr/>
          <p:nvPr/>
        </p:nvGrpSpPr>
        <p:grpSpPr>
          <a:xfrm>
            <a:off x="530017" y="1153886"/>
            <a:ext cx="1936483" cy="395702"/>
            <a:chOff x="5904540" y="1509930"/>
            <a:chExt cx="1936483" cy="39570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ED59BB1-1354-4BA9-AF92-3F1688134154}"/>
                </a:ext>
              </a:extLst>
            </p:cNvPr>
            <p:cNvSpPr txBox="1"/>
            <p:nvPr/>
          </p:nvSpPr>
          <p:spPr>
            <a:xfrm>
              <a:off x="5904540" y="1509930"/>
              <a:ext cx="11769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>
                  <a:latin typeface="Noto Sans KR" panose="020B0200000000000000" pitchFamily="50" charset="-127"/>
                  <a:ea typeface="Noto Sans KR" panose="020B0200000000000000" pitchFamily="50" charset="-127"/>
                </a:rPr>
                <a:t>에러 메시지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D07503F5-CC25-481F-8AA3-70EF641F99DA}"/>
                </a:ext>
              </a:extLst>
            </p:cNvPr>
            <p:cNvCxnSpPr>
              <a:cxnSpLocks/>
            </p:cNvCxnSpPr>
            <p:nvPr/>
          </p:nvCxnSpPr>
          <p:spPr>
            <a:xfrm>
              <a:off x="5985009" y="1905632"/>
              <a:ext cx="185601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4CDEC5B-5E9F-4D36-9BF1-D1B16FD955C5}"/>
              </a:ext>
            </a:extLst>
          </p:cNvPr>
          <p:cNvSpPr txBox="1"/>
          <p:nvPr/>
        </p:nvSpPr>
        <p:spPr>
          <a:xfrm>
            <a:off x="1167970" y="6110931"/>
            <a:ext cx="46570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latin typeface="Noto Sans KR" panose="020B0200000000000000" pitchFamily="50" charset="-127"/>
                <a:ea typeface="Noto Sans KR" panose="020B0200000000000000" pitchFamily="50" charset="-127"/>
              </a:rPr>
              <a:t>▶ 실행화면에서 요건에 충족되지 않으면 에러 메시지가 뜬다</a:t>
            </a:r>
            <a:r>
              <a:rPr lang="en-US" altLang="ko-KR" sz="140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4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4DFD4C8-64FC-423D-888F-5C6C717213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2068" y="1805455"/>
            <a:ext cx="2532409" cy="4039425"/>
          </a:xfrm>
          <a:prstGeom prst="rect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10620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D08CD085-2B1F-4D48-86D0-079C648EE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07962"/>
            <a:ext cx="3516086" cy="473075"/>
          </a:xfrm>
        </p:spPr>
        <p:txBody>
          <a:bodyPr>
            <a:normAutofit/>
          </a:bodyPr>
          <a:lstStyle/>
          <a:p>
            <a:r>
              <a:rPr lang="ko-KR" altLang="en-US" sz="2400" b="1">
                <a:solidFill>
                  <a:schemeClr val="accent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테스트 케이스</a:t>
            </a:r>
            <a:r>
              <a:rPr lang="en-US" altLang="ko-KR" sz="2400" b="1">
                <a:solidFill>
                  <a:schemeClr val="accent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  <a:r>
              <a:rPr lang="ko-KR" altLang="en-US" sz="1600" b="1">
                <a:solidFill>
                  <a:schemeClr val="accent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회원가입</a:t>
            </a:r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9144938B-A14D-4D91-8F1D-831D870130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382510"/>
              </p:ext>
            </p:extLst>
          </p:nvPr>
        </p:nvGraphicFramePr>
        <p:xfrm>
          <a:off x="819888" y="1636266"/>
          <a:ext cx="3900968" cy="112819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50484">
                  <a:extLst>
                    <a:ext uri="{9D8B030D-6E8A-4147-A177-3AD203B41FA5}">
                      <a16:colId xmlns:a16="http://schemas.microsoft.com/office/drawing/2014/main" val="1427128516"/>
                    </a:ext>
                  </a:extLst>
                </a:gridCol>
                <a:gridCol w="1950484">
                  <a:extLst>
                    <a:ext uri="{9D8B030D-6E8A-4147-A177-3AD203B41FA5}">
                      <a16:colId xmlns:a16="http://schemas.microsoft.com/office/drawing/2014/main" val="3559282539"/>
                    </a:ext>
                  </a:extLst>
                </a:gridCol>
              </a:tblGrid>
              <a:tr h="32596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테스트 대상 상세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테스트 시나리오 목적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751061"/>
                  </a:ext>
                </a:extLst>
              </a:tr>
              <a:tr h="80223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홈페이지를 이용하는 비회원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비회원이 문제없이 </a:t>
                      </a:r>
                      <a:endParaRPr lang="en-US" alt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회원가입이 되는가</a:t>
                      </a:r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?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1084005"/>
                  </a:ext>
                </a:extLst>
              </a:tr>
            </a:tbl>
          </a:graphicData>
        </a:graphic>
      </p:graphicFrame>
      <p:graphicFrame>
        <p:nvGraphicFramePr>
          <p:cNvPr id="5" name="표 2">
            <a:extLst>
              <a:ext uri="{FF2B5EF4-FFF2-40B4-BE49-F238E27FC236}">
                <a16:creationId xmlns:a16="http://schemas.microsoft.com/office/drawing/2014/main" id="{483F437B-FC5D-4BE9-B821-DB198ACA99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243720"/>
              </p:ext>
            </p:extLst>
          </p:nvPr>
        </p:nvGraphicFramePr>
        <p:xfrm>
          <a:off x="819888" y="3319754"/>
          <a:ext cx="5708503" cy="194710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50484">
                  <a:extLst>
                    <a:ext uri="{9D8B030D-6E8A-4147-A177-3AD203B41FA5}">
                      <a16:colId xmlns:a16="http://schemas.microsoft.com/office/drawing/2014/main" val="1427128516"/>
                    </a:ext>
                  </a:extLst>
                </a:gridCol>
                <a:gridCol w="3758019">
                  <a:extLst>
                    <a:ext uri="{9D8B030D-6E8A-4147-A177-3AD203B41FA5}">
                      <a16:colId xmlns:a16="http://schemas.microsoft.com/office/drawing/2014/main" val="3559282539"/>
                    </a:ext>
                  </a:extLst>
                </a:gridCol>
              </a:tblGrid>
              <a:tr h="32596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테스트 항목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기대 결과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751061"/>
                  </a:ext>
                </a:extLst>
              </a:tr>
              <a:tr h="4052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아이디 중복 체크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입력된 값이 </a:t>
                      </a:r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DB </a:t>
                      </a:r>
                      <a:r>
                        <a:rPr lang="ko-KR" altLang="en-US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데이터와 일치하는 값이 있는지 체크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4941792"/>
                  </a:ext>
                </a:extLst>
              </a:tr>
              <a:tr h="4052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비밀번호 </a:t>
                      </a:r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 </a:t>
                      </a:r>
                      <a:r>
                        <a:rPr lang="ko-KR" altLang="en-US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확인 체크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비밀번호와 비밀번호 확인 입력과 일치하는지 체크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1660934"/>
                  </a:ext>
                </a:extLst>
              </a:tr>
              <a:tr h="4052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비밀번호 일치 체크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비밀번호와 비밀번호 확인이 일치하는지 체크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8329478"/>
                  </a:ext>
                </a:extLst>
              </a:tr>
              <a:tr h="4052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이름 입력 체크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이름 입력했는지 체크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6518643"/>
                  </a:ext>
                </a:extLst>
              </a:tr>
            </a:tbl>
          </a:graphicData>
        </a:graphic>
      </p:graphicFrame>
      <p:grpSp>
        <p:nvGrpSpPr>
          <p:cNvPr id="19" name="그룹 18">
            <a:extLst>
              <a:ext uri="{FF2B5EF4-FFF2-40B4-BE49-F238E27FC236}">
                <a16:creationId xmlns:a16="http://schemas.microsoft.com/office/drawing/2014/main" id="{51D07784-334C-4E64-B5C5-435FD4901D21}"/>
              </a:ext>
            </a:extLst>
          </p:cNvPr>
          <p:cNvGrpSpPr/>
          <p:nvPr/>
        </p:nvGrpSpPr>
        <p:grpSpPr>
          <a:xfrm>
            <a:off x="6813183" y="681037"/>
            <a:ext cx="1799187" cy="338554"/>
            <a:chOff x="870858" y="1316355"/>
            <a:chExt cx="1799187" cy="338554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5DAEC02-E097-4487-9808-D936658F0281}"/>
                </a:ext>
              </a:extLst>
            </p:cNvPr>
            <p:cNvSpPr txBox="1"/>
            <p:nvPr/>
          </p:nvSpPr>
          <p:spPr>
            <a:xfrm>
              <a:off x="870858" y="1316355"/>
              <a:ext cx="124264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>
                  <a:latin typeface="Noto Sans KR" panose="020B0200000000000000" pitchFamily="50" charset="-127"/>
                  <a:ea typeface="Noto Sans KR" panose="020B0200000000000000" pitchFamily="50" charset="-127"/>
                </a:rPr>
                <a:t>아이디 중복 체크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481B2A5F-823F-4198-B633-3E65996061E9}"/>
                </a:ext>
              </a:extLst>
            </p:cNvPr>
            <p:cNvCxnSpPr>
              <a:cxnSpLocks/>
            </p:cNvCxnSpPr>
            <p:nvPr/>
          </p:nvCxnSpPr>
          <p:spPr>
            <a:xfrm>
              <a:off x="870858" y="1654909"/>
              <a:ext cx="179918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29B5DCAE-039D-4D1B-8BEC-4648D96B8C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9626" y="1231453"/>
            <a:ext cx="1800225" cy="809625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01F93DA7-11F8-4712-97C6-07927C48FC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9821" y="1231453"/>
            <a:ext cx="1800225" cy="825103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BCC404A6-4457-4AE9-A7B5-B55E0F6FA92A}"/>
              </a:ext>
            </a:extLst>
          </p:cNvPr>
          <p:cNvGrpSpPr/>
          <p:nvPr/>
        </p:nvGrpSpPr>
        <p:grpSpPr>
          <a:xfrm>
            <a:off x="6813183" y="2502749"/>
            <a:ext cx="1799187" cy="338554"/>
            <a:chOff x="870858" y="1316355"/>
            <a:chExt cx="1799187" cy="33855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D9C08B8-2F2D-487A-8C62-69C30A518EFD}"/>
                </a:ext>
              </a:extLst>
            </p:cNvPr>
            <p:cNvSpPr txBox="1"/>
            <p:nvPr/>
          </p:nvSpPr>
          <p:spPr>
            <a:xfrm>
              <a:off x="870858" y="1316355"/>
              <a:ext cx="14782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>
                  <a:latin typeface="Noto Sans KR" panose="020B0200000000000000" pitchFamily="50" charset="-127"/>
                  <a:ea typeface="Noto Sans KR" panose="020B0200000000000000" pitchFamily="50" charset="-127"/>
                </a:rPr>
                <a:t>비밀번호 </a:t>
              </a:r>
              <a:r>
                <a:rPr lang="en-US" altLang="ko-KR" sz="1200" b="1">
                  <a:latin typeface="Noto Sans KR" panose="020B0200000000000000" pitchFamily="50" charset="-127"/>
                  <a:ea typeface="Noto Sans KR" panose="020B0200000000000000" pitchFamily="50" charset="-127"/>
                </a:rPr>
                <a:t>/ </a:t>
              </a:r>
              <a:r>
                <a:rPr lang="ko-KR" altLang="en-US" sz="1200" b="1">
                  <a:latin typeface="Noto Sans KR" panose="020B0200000000000000" pitchFamily="50" charset="-127"/>
                  <a:ea typeface="Noto Sans KR" panose="020B0200000000000000" pitchFamily="50" charset="-127"/>
                </a:rPr>
                <a:t>확인 체크</a:t>
              </a:r>
            </a:p>
          </p:txBody>
        </p: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1566CED0-4AC5-4121-81F2-DB74ABA95C20}"/>
                </a:ext>
              </a:extLst>
            </p:cNvPr>
            <p:cNvCxnSpPr>
              <a:cxnSpLocks/>
            </p:cNvCxnSpPr>
            <p:nvPr/>
          </p:nvCxnSpPr>
          <p:spPr>
            <a:xfrm>
              <a:off x="870858" y="1654909"/>
              <a:ext cx="179918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8" name="그림 27">
            <a:extLst>
              <a:ext uri="{FF2B5EF4-FFF2-40B4-BE49-F238E27FC236}">
                <a16:creationId xmlns:a16="http://schemas.microsoft.com/office/drawing/2014/main" id="{4D42344F-1CDA-42A5-A8FC-753FEB60A0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9626" y="3055627"/>
            <a:ext cx="2738005" cy="795325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E5127CFA-5328-47A6-94BC-FF3E0DD714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9626" y="3930172"/>
            <a:ext cx="2704104" cy="88669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56387085-E1DD-4E7A-A3F5-811AD6A318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9626" y="5626547"/>
            <a:ext cx="2971810" cy="886694"/>
          </a:xfrm>
          <a:prstGeom prst="rect">
            <a:avLst/>
          </a:prstGeom>
        </p:spPr>
      </p:pic>
      <p:grpSp>
        <p:nvGrpSpPr>
          <p:cNvPr id="33" name="그룹 32">
            <a:extLst>
              <a:ext uri="{FF2B5EF4-FFF2-40B4-BE49-F238E27FC236}">
                <a16:creationId xmlns:a16="http://schemas.microsoft.com/office/drawing/2014/main" id="{C5938B9C-26D8-4A49-89CE-8628132BCCCC}"/>
              </a:ext>
            </a:extLst>
          </p:cNvPr>
          <p:cNvGrpSpPr/>
          <p:nvPr/>
        </p:nvGrpSpPr>
        <p:grpSpPr>
          <a:xfrm>
            <a:off x="6813183" y="5097580"/>
            <a:ext cx="1799187" cy="338554"/>
            <a:chOff x="870858" y="1316355"/>
            <a:chExt cx="1799187" cy="338554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8F15C47-243F-4196-B5DE-4BD579B0C206}"/>
                </a:ext>
              </a:extLst>
            </p:cNvPr>
            <p:cNvSpPr txBox="1"/>
            <p:nvPr/>
          </p:nvSpPr>
          <p:spPr>
            <a:xfrm>
              <a:off x="870858" y="1316355"/>
              <a:ext cx="11015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>
                  <a:latin typeface="Noto Sans KR" panose="020B0200000000000000" pitchFamily="50" charset="-127"/>
                  <a:ea typeface="Noto Sans KR" panose="020B0200000000000000" pitchFamily="50" charset="-127"/>
                </a:rPr>
                <a:t>이름 입력 체크</a:t>
              </a:r>
            </a:p>
          </p:txBody>
        </p: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48A5CEF2-0387-4D58-8747-6D62A564C06D}"/>
                </a:ext>
              </a:extLst>
            </p:cNvPr>
            <p:cNvCxnSpPr>
              <a:cxnSpLocks/>
            </p:cNvCxnSpPr>
            <p:nvPr/>
          </p:nvCxnSpPr>
          <p:spPr>
            <a:xfrm>
              <a:off x="870858" y="1654909"/>
              <a:ext cx="179918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32832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D08CD085-2B1F-4D48-86D0-079C648EE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07962"/>
            <a:ext cx="3516086" cy="473075"/>
          </a:xfrm>
        </p:spPr>
        <p:txBody>
          <a:bodyPr>
            <a:normAutofit/>
          </a:bodyPr>
          <a:lstStyle/>
          <a:p>
            <a:r>
              <a:rPr lang="ko-KR" altLang="en-US" sz="2400" b="1">
                <a:solidFill>
                  <a:schemeClr val="accent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테스트 케이스</a:t>
            </a:r>
            <a:r>
              <a:rPr lang="en-US" altLang="ko-KR" sz="2400" b="1">
                <a:solidFill>
                  <a:schemeClr val="accent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  <a:r>
              <a:rPr lang="ko-KR" altLang="en-US" sz="1600" b="1">
                <a:solidFill>
                  <a:schemeClr val="accent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로그인</a:t>
            </a:r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9144938B-A14D-4D91-8F1D-831D870130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521939"/>
              </p:ext>
            </p:extLst>
          </p:nvPr>
        </p:nvGraphicFramePr>
        <p:xfrm>
          <a:off x="819888" y="1636266"/>
          <a:ext cx="3900968" cy="112819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50484">
                  <a:extLst>
                    <a:ext uri="{9D8B030D-6E8A-4147-A177-3AD203B41FA5}">
                      <a16:colId xmlns:a16="http://schemas.microsoft.com/office/drawing/2014/main" val="1427128516"/>
                    </a:ext>
                  </a:extLst>
                </a:gridCol>
                <a:gridCol w="1950484">
                  <a:extLst>
                    <a:ext uri="{9D8B030D-6E8A-4147-A177-3AD203B41FA5}">
                      <a16:colId xmlns:a16="http://schemas.microsoft.com/office/drawing/2014/main" val="3559282539"/>
                    </a:ext>
                  </a:extLst>
                </a:gridCol>
              </a:tblGrid>
              <a:tr h="32596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테스트 대상 상세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테스트 시나리오 목적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751061"/>
                  </a:ext>
                </a:extLst>
              </a:tr>
              <a:tr h="80223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홈페이지를 이용하는 회원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회원가입한 회원이 문제 없이 로그인하는가</a:t>
                      </a:r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?</a:t>
                      </a:r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1084005"/>
                  </a:ext>
                </a:extLst>
              </a:tr>
            </a:tbl>
          </a:graphicData>
        </a:graphic>
      </p:graphicFrame>
      <p:graphicFrame>
        <p:nvGraphicFramePr>
          <p:cNvPr id="5" name="표 2">
            <a:extLst>
              <a:ext uri="{FF2B5EF4-FFF2-40B4-BE49-F238E27FC236}">
                <a16:creationId xmlns:a16="http://schemas.microsoft.com/office/drawing/2014/main" id="{483F437B-FC5D-4BE9-B821-DB198ACA99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956351"/>
              </p:ext>
            </p:extLst>
          </p:nvPr>
        </p:nvGraphicFramePr>
        <p:xfrm>
          <a:off x="819888" y="3481933"/>
          <a:ext cx="5708503" cy="161106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50484">
                  <a:extLst>
                    <a:ext uri="{9D8B030D-6E8A-4147-A177-3AD203B41FA5}">
                      <a16:colId xmlns:a16="http://schemas.microsoft.com/office/drawing/2014/main" val="1427128516"/>
                    </a:ext>
                  </a:extLst>
                </a:gridCol>
                <a:gridCol w="3758019">
                  <a:extLst>
                    <a:ext uri="{9D8B030D-6E8A-4147-A177-3AD203B41FA5}">
                      <a16:colId xmlns:a16="http://schemas.microsoft.com/office/drawing/2014/main" val="3559282539"/>
                    </a:ext>
                  </a:extLst>
                </a:gridCol>
              </a:tblGrid>
              <a:tr h="40895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테스트 항목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기대 결과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751061"/>
                  </a:ext>
                </a:extLst>
              </a:tr>
              <a:tr h="58849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아이디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DB</a:t>
                      </a:r>
                      <a:r>
                        <a:rPr lang="ko-KR" altLang="en-US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에 등록된 </a:t>
                      </a:r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ID</a:t>
                      </a:r>
                      <a:r>
                        <a:rPr lang="ko-KR" altLang="en-US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값과 일치하는 데이터가 있는지 확인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1084005"/>
                  </a:ext>
                </a:extLst>
              </a:tr>
              <a:tr h="61361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비밀번호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DB</a:t>
                      </a:r>
                      <a:r>
                        <a:rPr lang="ko-KR" altLang="en-US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의 </a:t>
                      </a:r>
                      <a:r>
                        <a:rPr lang="en-US" altLang="ko-KR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ID</a:t>
                      </a:r>
                      <a:r>
                        <a:rPr lang="ko-KR" altLang="en-US" sz="12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값에 해당하는 비밀번호와 일치하는지 확인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9413021"/>
                  </a:ext>
                </a:extLst>
              </a:tr>
            </a:tbl>
          </a:graphicData>
        </a:graphic>
      </p:graphicFrame>
      <p:grpSp>
        <p:nvGrpSpPr>
          <p:cNvPr id="6" name="그룹 5">
            <a:extLst>
              <a:ext uri="{FF2B5EF4-FFF2-40B4-BE49-F238E27FC236}">
                <a16:creationId xmlns:a16="http://schemas.microsoft.com/office/drawing/2014/main" id="{AA5C37CE-E159-47E7-BFCA-6431449898B1}"/>
              </a:ext>
            </a:extLst>
          </p:cNvPr>
          <p:cNvGrpSpPr/>
          <p:nvPr/>
        </p:nvGrpSpPr>
        <p:grpSpPr>
          <a:xfrm>
            <a:off x="7036467" y="1466989"/>
            <a:ext cx="1799187" cy="338554"/>
            <a:chOff x="870858" y="1316355"/>
            <a:chExt cx="1799187" cy="33855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4A8CFE0-7E1F-44DE-979B-42E44E4E0249}"/>
                </a:ext>
              </a:extLst>
            </p:cNvPr>
            <p:cNvSpPr txBox="1"/>
            <p:nvPr/>
          </p:nvSpPr>
          <p:spPr>
            <a:xfrm>
              <a:off x="870858" y="1316355"/>
              <a:ext cx="12779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>
                  <a:latin typeface="Noto Sans KR" panose="020B0200000000000000" pitchFamily="50" charset="-127"/>
                  <a:ea typeface="Noto Sans KR" panose="020B0200000000000000" pitchFamily="50" charset="-127"/>
                </a:rPr>
                <a:t>아이디 체크 실패 </a:t>
              </a:r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E469F435-0767-44CA-ABD5-9D605A7AF0C8}"/>
                </a:ext>
              </a:extLst>
            </p:cNvPr>
            <p:cNvCxnSpPr>
              <a:cxnSpLocks/>
            </p:cNvCxnSpPr>
            <p:nvPr/>
          </p:nvCxnSpPr>
          <p:spPr>
            <a:xfrm>
              <a:off x="870858" y="1654909"/>
              <a:ext cx="179918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8EDBF59-1A1D-48DA-948E-A2B34E9195E3}"/>
              </a:ext>
            </a:extLst>
          </p:cNvPr>
          <p:cNvGrpSpPr/>
          <p:nvPr/>
        </p:nvGrpSpPr>
        <p:grpSpPr>
          <a:xfrm>
            <a:off x="7036468" y="4326670"/>
            <a:ext cx="1799187" cy="338554"/>
            <a:chOff x="870858" y="1316355"/>
            <a:chExt cx="1799187" cy="33855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437B0A1-F801-4FD4-9C94-AA9E2DF9B6DE}"/>
                </a:ext>
              </a:extLst>
            </p:cNvPr>
            <p:cNvSpPr txBox="1"/>
            <p:nvPr/>
          </p:nvSpPr>
          <p:spPr>
            <a:xfrm>
              <a:off x="870858" y="1316355"/>
              <a:ext cx="14189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>
                  <a:latin typeface="Noto Sans KR" panose="020B0200000000000000" pitchFamily="50" charset="-127"/>
                  <a:ea typeface="Noto Sans KR" panose="020B0200000000000000" pitchFamily="50" charset="-127"/>
                </a:rPr>
                <a:t>비밀번호 체크 실패 </a:t>
              </a: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CF24BC37-0911-4024-9B77-63A65D6F0BF7}"/>
                </a:ext>
              </a:extLst>
            </p:cNvPr>
            <p:cNvCxnSpPr>
              <a:cxnSpLocks/>
            </p:cNvCxnSpPr>
            <p:nvPr/>
          </p:nvCxnSpPr>
          <p:spPr>
            <a:xfrm>
              <a:off x="870858" y="1654909"/>
              <a:ext cx="179918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3D1A7127-7E11-4CCE-BF47-53C6123249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860" y="2047323"/>
            <a:ext cx="3736761" cy="115041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829C2A90-4B89-4299-B0E0-60F34C803A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860" y="4946323"/>
            <a:ext cx="3743162" cy="1150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990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D08CD085-2B1F-4D48-86D0-079C648EE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07962"/>
            <a:ext cx="4506686" cy="473075"/>
          </a:xfrm>
        </p:spPr>
        <p:txBody>
          <a:bodyPr>
            <a:normAutofit/>
          </a:bodyPr>
          <a:lstStyle/>
          <a:p>
            <a:r>
              <a:rPr lang="ko-KR" altLang="en-US" sz="2400" b="1">
                <a:solidFill>
                  <a:schemeClr val="accent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배치</a:t>
            </a:r>
            <a:r>
              <a:rPr lang="en-US" altLang="ko-KR" sz="2400" b="1">
                <a:solidFill>
                  <a:schemeClr val="accent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(Batch)</a:t>
            </a:r>
            <a:r>
              <a:rPr lang="ko-KR" altLang="en-US" sz="2400" b="1">
                <a:solidFill>
                  <a:schemeClr val="accent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처리 개념 및 원리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41F55C-B3CB-4AD6-9D1F-531825CF912C}"/>
              </a:ext>
            </a:extLst>
          </p:cNvPr>
          <p:cNvSpPr txBox="1"/>
          <p:nvPr/>
        </p:nvSpPr>
        <p:spPr>
          <a:xfrm>
            <a:off x="679695" y="1141412"/>
            <a:ext cx="6688667" cy="5069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latin typeface="Noto Sans KR" panose="020B0200000000000000" pitchFamily="50" charset="-127"/>
                <a:ea typeface="Noto Sans KR" panose="020B0200000000000000" pitchFamily="50" charset="-127"/>
              </a:rPr>
              <a:t>📌 </a:t>
            </a:r>
            <a:r>
              <a:rPr lang="ko-KR" altLang="en-US" sz="1400" b="1">
                <a:latin typeface="Noto Sans KR" panose="020B0200000000000000" pitchFamily="50" charset="-127"/>
                <a:ea typeface="Noto Sans KR" panose="020B0200000000000000" pitchFamily="50" charset="-127"/>
              </a:rPr>
              <a:t>배치 처리 프로그램 </a:t>
            </a:r>
            <a:r>
              <a:rPr lang="en-US" altLang="ko-KR" sz="1400" b="1">
                <a:latin typeface="Noto Sans KR" panose="020B0200000000000000" pitchFamily="50" charset="-127"/>
                <a:ea typeface="Noto Sans KR" panose="020B0200000000000000" pitchFamily="50" charset="-127"/>
              </a:rPr>
              <a:t>(Batch Program)</a:t>
            </a:r>
          </a:p>
          <a:p>
            <a:endParaRPr lang="en-US" altLang="ko-KR" sz="1000"/>
          </a:p>
          <a:p>
            <a:pPr>
              <a:lnSpc>
                <a:spcPct val="150000"/>
              </a:lnSpc>
            </a:pPr>
            <a:r>
              <a:rPr lang="ko-KR" altLang="en-US" sz="1050">
                <a:latin typeface="Noto Sans KR" panose="020B0200000000000000" pitchFamily="50" charset="-127"/>
                <a:ea typeface="Noto Sans KR" panose="020B0200000000000000" pitchFamily="50" charset="-127"/>
              </a:rPr>
              <a:t>배치 프로그램은 사용자의 요청 없이 서버에서 일정 시간마다 자동으로 실행되어 데이터를 처리하는 프로그램이다</a:t>
            </a:r>
            <a:r>
              <a:rPr lang="en-US" altLang="ko-KR" sz="105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50">
                <a:latin typeface="Noto Sans KR" panose="020B0200000000000000" pitchFamily="50" charset="-127"/>
                <a:ea typeface="Noto Sans KR" panose="020B0200000000000000" pitchFamily="50" charset="-127"/>
              </a:rPr>
              <a:t>웹은 기본적으로 요청이 있어야 동작하지만</a:t>
            </a:r>
            <a:r>
              <a:rPr lang="en-US" altLang="ko-KR" sz="105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50">
                <a:latin typeface="Noto Sans KR" panose="020B0200000000000000" pitchFamily="50" charset="-127"/>
                <a:ea typeface="Noto Sans KR" panose="020B0200000000000000" pitchFamily="50" charset="-127"/>
              </a:rPr>
              <a:t>배치는 서버가 자동으로 반복 작업을 수행한다</a:t>
            </a:r>
            <a:r>
              <a:rPr lang="en-US" altLang="ko-KR" sz="105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50">
                <a:latin typeface="Noto Sans KR" panose="020B0200000000000000" pitchFamily="50" charset="-127"/>
                <a:ea typeface="Noto Sans KR" panose="020B0200000000000000" pitchFamily="50" charset="-127"/>
              </a:rPr>
              <a:t>예</a:t>
            </a:r>
            <a:r>
              <a:rPr lang="en-US" altLang="ko-KR" sz="1050"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  <a:r>
              <a:rPr lang="ko-KR" altLang="en-US" sz="1050">
                <a:latin typeface="Noto Sans KR" panose="020B0200000000000000" pitchFamily="50" charset="-127"/>
                <a:ea typeface="Noto Sans KR" panose="020B0200000000000000" pitchFamily="50" charset="-127"/>
              </a:rPr>
              <a:t>데이터 삭제</a:t>
            </a:r>
            <a:r>
              <a:rPr lang="en-US" altLang="ko-KR" sz="105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50">
                <a:latin typeface="Noto Sans KR" panose="020B0200000000000000" pitchFamily="50" charset="-127"/>
                <a:ea typeface="Noto Sans KR" panose="020B0200000000000000" pitchFamily="50" charset="-127"/>
              </a:rPr>
              <a:t>회원 상태 변경</a:t>
            </a:r>
            <a:r>
              <a:rPr lang="en-US" altLang="ko-KR" sz="105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50">
                <a:latin typeface="Noto Sans KR" panose="020B0200000000000000" pitchFamily="50" charset="-127"/>
                <a:ea typeface="Noto Sans KR" panose="020B0200000000000000" pitchFamily="50" charset="-127"/>
              </a:rPr>
              <a:t>로그 정리</a:t>
            </a:r>
            <a:r>
              <a:rPr lang="en-US" altLang="ko-KR" sz="105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50">
                <a:latin typeface="Noto Sans KR" panose="020B0200000000000000" pitchFamily="50" charset="-127"/>
                <a:ea typeface="Noto Sans KR" panose="020B0200000000000000" pitchFamily="50" charset="-127"/>
              </a:rPr>
              <a:t>통계 처리 등</a:t>
            </a:r>
            <a:endParaRPr lang="en-US" altLang="ko-KR" sz="105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ko-KR" alt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 b="1">
                <a:latin typeface="Noto Sans KR" panose="020B0200000000000000" pitchFamily="50" charset="-127"/>
                <a:ea typeface="Noto Sans KR" panose="020B0200000000000000" pitchFamily="50" charset="-127"/>
              </a:rPr>
              <a:t>📌 주요 처리 예시</a:t>
            </a:r>
            <a:endParaRPr lang="en-US" altLang="ko-KR" sz="1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ko-KR" altLang="en-US" sz="10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  <a:t>년 이상 미접속 회원 → 휴면 처리</a:t>
            </a:r>
            <a:b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000" b="1">
                <a:latin typeface="Noto Sans KR" panose="020B0200000000000000" pitchFamily="50" charset="-127"/>
                <a:ea typeface="Noto Sans KR" panose="020B0200000000000000" pitchFamily="50" charset="-127"/>
              </a:rPr>
              <a:t>UPDATE users</a:t>
            </a:r>
            <a:br>
              <a:rPr lang="en-US" altLang="ko-KR" sz="1000" b="1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000" b="1">
                <a:latin typeface="Noto Sans KR" panose="020B0200000000000000" pitchFamily="50" charset="-127"/>
                <a:ea typeface="Noto Sans KR" panose="020B0200000000000000" pitchFamily="50" charset="-127"/>
              </a:rPr>
              <a:t>SET status = 'inactive'</a:t>
            </a:r>
            <a:br>
              <a:rPr lang="en-US" altLang="ko-KR" sz="1000" b="1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000" b="1">
                <a:latin typeface="Noto Sans KR" panose="020B0200000000000000" pitchFamily="50" charset="-127"/>
                <a:ea typeface="Noto Sans KR" panose="020B0200000000000000" pitchFamily="50" charset="-127"/>
              </a:rPr>
              <a:t>WHERE last_login &lt; DATE_SUB(NOW(), INTERVAL 1 YEAR);</a:t>
            </a:r>
          </a:p>
          <a:p>
            <a:pPr>
              <a:lnSpc>
                <a:spcPct val="150000"/>
              </a:lnSpc>
            </a:pPr>
            <a: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  <a:t>로그인 실패 횟수 초기화 </a:t>
            </a:r>
            <a:r>
              <a: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  <a:t>매일 </a:t>
            </a:r>
            <a:r>
              <a: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  <a:t>회</a:t>
            </a:r>
            <a:r>
              <a: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br>
              <a: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000" b="1">
                <a:latin typeface="Noto Sans KR" panose="020B0200000000000000" pitchFamily="50" charset="-127"/>
                <a:ea typeface="Noto Sans KR" panose="020B0200000000000000" pitchFamily="50" charset="-127"/>
              </a:rPr>
              <a:t>UPDATE users</a:t>
            </a:r>
            <a:br>
              <a:rPr lang="en-US" altLang="ko-KR" sz="1000" b="1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000" b="1">
                <a:latin typeface="Noto Sans KR" panose="020B0200000000000000" pitchFamily="50" charset="-127"/>
                <a:ea typeface="Noto Sans KR" panose="020B0200000000000000" pitchFamily="50" charset="-127"/>
              </a:rPr>
              <a:t>SET fail_count = 0;</a:t>
            </a:r>
          </a:p>
          <a:p>
            <a:pPr>
              <a:lnSpc>
                <a:spcPct val="150000"/>
              </a:lnSpc>
            </a:pPr>
            <a: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  <a:t>오래된 세션 삭제 </a:t>
            </a:r>
            <a:r>
              <a: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rPr>
              <a:t>(7</a:t>
            </a:r>
            <a: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  <a:t>일 이상</a:t>
            </a:r>
            <a:r>
              <a: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br>
              <a: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000" b="1">
                <a:latin typeface="Noto Sans KR" panose="020B0200000000000000" pitchFamily="50" charset="-127"/>
                <a:ea typeface="Noto Sans KR" panose="020B0200000000000000" pitchFamily="50" charset="-127"/>
              </a:rPr>
              <a:t>DELETE FROM sessions</a:t>
            </a:r>
            <a:br>
              <a:rPr lang="en-US" altLang="ko-KR" sz="1000" b="1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000" b="1">
                <a:latin typeface="Noto Sans KR" panose="020B0200000000000000" pitchFamily="50" charset="-127"/>
                <a:ea typeface="Noto Sans KR" panose="020B0200000000000000" pitchFamily="50" charset="-127"/>
              </a:rPr>
              <a:t>WHERE updated_at &lt; DATE_SUB(NOW(), INTERVAL 7 DAY);</a:t>
            </a:r>
          </a:p>
          <a:p>
            <a:pPr>
              <a:lnSpc>
                <a:spcPct val="150000"/>
              </a:lnSpc>
            </a:pPr>
            <a: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  <a:t>미인증 계정 삭제 </a:t>
            </a:r>
            <a:r>
              <a: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rPr>
              <a:t>(3</a:t>
            </a:r>
            <a: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  <a:t>일 이상 경과</a:t>
            </a:r>
            <a:r>
              <a: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br>
              <a: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000" b="1">
                <a:latin typeface="Noto Sans KR" panose="020B0200000000000000" pitchFamily="50" charset="-127"/>
                <a:ea typeface="Noto Sans KR" panose="020B0200000000000000" pitchFamily="50" charset="-127"/>
              </a:rPr>
              <a:t>DELETE FROM users</a:t>
            </a:r>
          </a:p>
          <a:p>
            <a:pPr>
              <a:lnSpc>
                <a:spcPct val="150000"/>
              </a:lnSpc>
            </a:pPr>
            <a:r>
              <a:rPr lang="en-US" altLang="ko-KR" sz="1000" b="1">
                <a:latin typeface="Noto Sans KR" panose="020B0200000000000000" pitchFamily="50" charset="-127"/>
                <a:ea typeface="Noto Sans KR" panose="020B0200000000000000" pitchFamily="50" charset="-127"/>
              </a:rPr>
              <a:t>WHERE email_verified = 0</a:t>
            </a:r>
            <a:br>
              <a:rPr lang="en-US" altLang="ko-KR" sz="1000" b="1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000" b="1">
                <a:latin typeface="Noto Sans KR" panose="020B0200000000000000" pitchFamily="50" charset="-127"/>
                <a:ea typeface="Noto Sans KR" panose="020B0200000000000000" pitchFamily="50" charset="-127"/>
              </a:rPr>
              <a:t>AND created_at &lt; DATE_SUB(NOW(), INTERVAL 3 DAY);</a:t>
            </a:r>
            <a:endParaRPr lang="ko-KR" altLang="en-US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5A02B4-CB88-44BF-817D-05DF62F21046}"/>
              </a:ext>
            </a:extLst>
          </p:cNvPr>
          <p:cNvSpPr txBox="1"/>
          <p:nvPr/>
        </p:nvSpPr>
        <p:spPr>
          <a:xfrm>
            <a:off x="7368361" y="1141412"/>
            <a:ext cx="3997843" cy="4204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>
                <a:latin typeface="Noto Sans KR" panose="020B0200000000000000" pitchFamily="50" charset="-127"/>
                <a:ea typeface="Noto Sans KR" panose="020B0200000000000000" pitchFamily="50" charset="-127"/>
              </a:rPr>
              <a:t>📌 </a:t>
            </a:r>
            <a:r>
              <a:rPr lang="en-US" altLang="ko-KR" sz="1400" b="1">
                <a:latin typeface="Noto Sans KR" panose="020B0200000000000000" pitchFamily="50" charset="-127"/>
                <a:ea typeface="Noto Sans KR" panose="020B0200000000000000" pitchFamily="50" charset="-127"/>
              </a:rPr>
              <a:t>INTERVAL </a:t>
            </a:r>
            <a:r>
              <a:rPr lang="ko-KR" altLang="en-US" sz="1400" b="1">
                <a:latin typeface="Noto Sans KR" panose="020B0200000000000000" pitchFamily="50" charset="-127"/>
                <a:ea typeface="Noto Sans KR" panose="020B0200000000000000" pitchFamily="50" charset="-127"/>
              </a:rPr>
              <a:t>개념</a:t>
            </a:r>
            <a:endParaRPr lang="en-US" altLang="ko-KR" sz="1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ko-KR" altLang="en-US" sz="10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b="1">
                <a:latin typeface="Noto Sans KR" panose="020B0200000000000000" pitchFamily="50" charset="-127"/>
                <a:ea typeface="Noto Sans KR" panose="020B0200000000000000" pitchFamily="50" charset="-127"/>
              </a:rPr>
              <a:t>INTERVAL 1 DAY </a:t>
            </a:r>
            <a:r>
              <a: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rPr>
              <a:t>→ 1</a:t>
            </a:r>
            <a: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  <a:t>일 전</a:t>
            </a:r>
            <a:b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000" b="1">
                <a:latin typeface="Noto Sans KR" panose="020B0200000000000000" pitchFamily="50" charset="-127"/>
                <a:ea typeface="Noto Sans KR" panose="020B0200000000000000" pitchFamily="50" charset="-127"/>
              </a:rPr>
              <a:t>INTERVAL 7 DAY </a:t>
            </a:r>
            <a:r>
              <a: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rPr>
              <a:t>→ 7</a:t>
            </a:r>
            <a: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  <a:t>일 전</a:t>
            </a:r>
            <a:b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000" b="1">
                <a:latin typeface="Noto Sans KR" panose="020B0200000000000000" pitchFamily="50" charset="-127"/>
                <a:ea typeface="Noto Sans KR" panose="020B0200000000000000" pitchFamily="50" charset="-127"/>
              </a:rPr>
              <a:t>INTERVAL 1 MONTH </a:t>
            </a:r>
            <a:r>
              <a: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rPr>
              <a:t>→ 1</a:t>
            </a:r>
            <a: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  <a:t>개월 전</a:t>
            </a:r>
            <a:b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000" b="1">
                <a:latin typeface="Noto Sans KR" panose="020B0200000000000000" pitchFamily="50" charset="-127"/>
                <a:ea typeface="Noto Sans KR" panose="020B0200000000000000" pitchFamily="50" charset="-127"/>
              </a:rPr>
              <a:t>INTERVAL 1 YEAR </a:t>
            </a:r>
            <a:r>
              <a: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rPr>
              <a:t>→ 1</a:t>
            </a:r>
            <a: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  <a:t>년 전</a:t>
            </a:r>
            <a:endParaRPr lang="en-US" altLang="ko-KR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ko-KR" alt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 b="1">
                <a:latin typeface="Noto Sans KR" panose="020B0200000000000000" pitchFamily="50" charset="-127"/>
                <a:ea typeface="Noto Sans KR" panose="020B0200000000000000" pitchFamily="50" charset="-127"/>
              </a:rPr>
              <a:t>📌 배치 처리 특징</a:t>
            </a:r>
            <a:endParaRPr lang="en-US" altLang="ko-KR" sz="14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ko-KR" altLang="en-US" sz="10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  <a:t>사용자 요청 없이 자동 실행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  <a:t>정기적으로 반복 작업 수행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  <a:t>서버 자원 관리 및 데이터 정리 용도 </a:t>
            </a:r>
            <a:endParaRPr lang="en-US" altLang="ko-KR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endParaRPr lang="ko-KR" alt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 b="1">
                <a:latin typeface="Noto Sans KR" panose="020B0200000000000000" pitchFamily="50" charset="-127"/>
                <a:ea typeface="Noto Sans KR" panose="020B0200000000000000" pitchFamily="50" charset="-127"/>
              </a:rPr>
              <a:t>📌 크론</a:t>
            </a:r>
            <a:r>
              <a:rPr lang="en-US" altLang="ko-KR" sz="1400" b="1">
                <a:latin typeface="Noto Sans KR" panose="020B0200000000000000" pitchFamily="50" charset="-127"/>
                <a:ea typeface="Noto Sans KR" panose="020B0200000000000000" pitchFamily="50" charset="-127"/>
              </a:rPr>
              <a:t>(Cron)</a:t>
            </a:r>
          </a:p>
          <a:p>
            <a:endParaRPr lang="en-US" altLang="ko-KR" sz="10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  <a:t>리눅스에서 특정 시간을 지정해 자동으로 명령을 실행하는 스케줄러</a:t>
            </a:r>
            <a:b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  <a:t>배치 프로그램을 주기적으로 실행하는 데 사용됨</a:t>
            </a:r>
            <a:b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  <a:t>예</a:t>
            </a:r>
            <a:r>
              <a: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  <a:t>매일 새벽 </a:t>
            </a:r>
            <a:r>
              <a: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  <a:t>시 자동 실행</a:t>
            </a:r>
          </a:p>
        </p:txBody>
      </p:sp>
    </p:spTree>
    <p:extLst>
      <p:ext uri="{BB962C8B-B14F-4D97-AF65-F5344CB8AC3E}">
        <p14:creationId xmlns:p14="http://schemas.microsoft.com/office/powerpoint/2010/main" val="2805197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</TotalTime>
  <Words>819</Words>
  <Application>Microsoft Office PowerPoint</Application>
  <PresentationFormat>와이드스크린</PresentationFormat>
  <Paragraphs>148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Noto Sans KR</vt:lpstr>
      <vt:lpstr>맑은 고딕</vt:lpstr>
      <vt:lpstr>Arial</vt:lpstr>
      <vt:lpstr>Wingdings</vt:lpstr>
      <vt:lpstr>Office 테마</vt:lpstr>
      <vt:lpstr>서버프로그램구현평가 (회원가입 DB연동구현)</vt:lpstr>
      <vt:lpstr>개요 및 개발환경</vt:lpstr>
      <vt:lpstr>테이블 설계 및 SQL</vt:lpstr>
      <vt:lpstr>데이터베이스 결과화면</vt:lpstr>
      <vt:lpstr>주요기능</vt:lpstr>
      <vt:lpstr>사용기술</vt:lpstr>
      <vt:lpstr>실행 결과화면</vt:lpstr>
      <vt:lpstr>실행 결과화면</vt:lpstr>
      <vt:lpstr>테스트 케이스_회원가입</vt:lpstr>
      <vt:lpstr>테스트 케이스_로그인</vt:lpstr>
      <vt:lpstr>배치(Batch)처리 개념 및 원리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서버프로그램 구현평가</dc:title>
  <dc:creator>Administrator</dc:creator>
  <cp:lastModifiedBy>Administrator</cp:lastModifiedBy>
  <cp:revision>38</cp:revision>
  <dcterms:created xsi:type="dcterms:W3CDTF">2026-04-30T02:41:55Z</dcterms:created>
  <dcterms:modified xsi:type="dcterms:W3CDTF">2026-05-28T00:37:36Z</dcterms:modified>
</cp:coreProperties>
</file>